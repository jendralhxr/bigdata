
<file path=[Content_Types].xml><?xml version="1.0" encoding="utf-8"?>
<Types xmlns="http://schemas.openxmlformats.org/package/2006/content-types">
  <Default Extension="xml" ContentType="application/xml"/>
  <Default Extension="svg" ContentType="image/svg+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7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 /><Relationship Id="rId19" Type="http://schemas.openxmlformats.org/officeDocument/2006/relationships/tableStyles" Target="tableStyles.xml" /><Relationship Id="rId2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531861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5851740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2983990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598098252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1926706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89069839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47492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021278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59863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6457E54-4D8F-59B8-2059-D4D5D97A1F1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25662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27259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68027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B6FC81-DDBD-A702-55A1-7D6C816CF54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67161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89658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21114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E217D1-E3A1-49D1-F2B9-4B8B1C1E295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56595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61639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189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14AB844-8499-BC5E-9F06-F7C23360E6D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91112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28933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6092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0ECAAD-B8BC-5075-DC99-29E0D37403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4FAB298-AA35-6A3A-9F96-93313BA1284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28306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53788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36478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F66B3E-BA9A-28AC-E785-88624502350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53577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07148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10714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FBD328-D662-A831-46C1-F9A036AFBC6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09297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8164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36221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93CCF7-6463-9C51-0D86-FCADC5D2F07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313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22584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18817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70EDFA-5A32-D14D-3A2C-704B33E8A09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01794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07974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08767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7CC3B29-2F0F-F33D-3507-2C7D6FE22CD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84140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01650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7287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35814B-43F8-B4B3-9C96-7AD8E17FC9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8953925" name="Shape 1059"/>
          <p:cNvSpPr>
            <a:spLocks noChangeArrowheads="1" noGrp="1"/>
          </p:cNvSpPr>
          <p:nvPr userDrawn="1"/>
        </p:nvSpPr>
        <p:spPr bwMode="auto">
          <a:xfrm>
            <a:off x="2396066" y="2291401"/>
            <a:ext cx="5452533" cy="41651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112" y="3116"/>
                </a:moveTo>
                <a:lnTo>
                  <a:pt x="22112" y="3116"/>
                </a:lnTo>
                <a:cubicBezTo>
                  <a:pt x="22112" y="3116"/>
                  <a:pt x="27356" y="0"/>
                  <a:pt x="30300" y="4263"/>
                </a:cubicBezTo>
                <a:lnTo>
                  <a:pt x="30300" y="4263"/>
                </a:lnTo>
                <a:cubicBezTo>
                  <a:pt x="33277" y="8577"/>
                  <a:pt x="36666" y="13779"/>
                  <a:pt x="39369" y="17410"/>
                </a:cubicBezTo>
                <a:lnTo>
                  <a:pt x="39369" y="17410"/>
                </a:lnTo>
                <a:cubicBezTo>
                  <a:pt x="41761" y="20624"/>
                  <a:pt x="43200" y="22708"/>
                  <a:pt x="40979" y="26940"/>
                </a:cubicBezTo>
                <a:lnTo>
                  <a:pt x="40979" y="26940"/>
                </a:lnTo>
                <a:cubicBezTo>
                  <a:pt x="39655" y="29461"/>
                  <a:pt x="35076" y="35072"/>
                  <a:pt x="32639" y="38623"/>
                </a:cubicBezTo>
                <a:lnTo>
                  <a:pt x="32639" y="38623"/>
                </a:lnTo>
                <a:cubicBezTo>
                  <a:pt x="30200" y="42175"/>
                  <a:pt x="26202" y="43200"/>
                  <a:pt x="23268" y="42185"/>
                </a:cubicBezTo>
                <a:lnTo>
                  <a:pt x="23268" y="42185"/>
                </a:lnTo>
                <a:cubicBezTo>
                  <a:pt x="20331" y="41168"/>
                  <a:pt x="11584" y="38623"/>
                  <a:pt x="6213" y="36974"/>
                </a:cubicBezTo>
                <a:lnTo>
                  <a:pt x="6213" y="36974"/>
                </a:lnTo>
                <a:cubicBezTo>
                  <a:pt x="1431" y="35502"/>
                  <a:pt x="0" y="32900"/>
                  <a:pt x="214" y="31157"/>
                </a:cubicBezTo>
                <a:lnTo>
                  <a:pt x="214" y="31157"/>
                </a:lnTo>
                <a:cubicBezTo>
                  <a:pt x="760" y="26703"/>
                  <a:pt x="1113" y="19920"/>
                  <a:pt x="1214" y="16042"/>
                </a:cubicBezTo>
                <a:lnTo>
                  <a:pt x="1214" y="16042"/>
                </a:lnTo>
                <a:cubicBezTo>
                  <a:pt x="1303" y="12626"/>
                  <a:pt x="4203" y="11313"/>
                  <a:pt x="6907" y="9989"/>
                </a:cubicBezTo>
                <a:lnTo>
                  <a:pt x="6907" y="9989"/>
                </a:lnTo>
                <a:cubicBezTo>
                  <a:pt x="9245" y="8843"/>
                  <a:pt x="19774" y="4261"/>
                  <a:pt x="22112" y="311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062084037" name="Shape 1060"/>
          <p:cNvSpPr>
            <a:spLocks noChangeArrowheads="1" noGrp="1"/>
          </p:cNvSpPr>
          <p:nvPr userDrawn="1"/>
        </p:nvSpPr>
        <p:spPr bwMode="auto">
          <a:xfrm>
            <a:off x="1309514" y="1839834"/>
            <a:ext cx="4011787" cy="131432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0162" y="13104"/>
                </a:moveTo>
                <a:lnTo>
                  <a:pt x="40162" y="13104"/>
                </a:lnTo>
                <a:cubicBezTo>
                  <a:pt x="36799" y="16736"/>
                  <a:pt x="26204" y="28154"/>
                  <a:pt x="22676" y="31251"/>
                </a:cubicBezTo>
                <a:lnTo>
                  <a:pt x="22676" y="31251"/>
                </a:lnTo>
                <a:cubicBezTo>
                  <a:pt x="18513" y="34899"/>
                  <a:pt x="15093" y="37527"/>
                  <a:pt x="13136" y="38511"/>
                </a:cubicBezTo>
                <a:lnTo>
                  <a:pt x="13136" y="38511"/>
                </a:lnTo>
                <a:cubicBezTo>
                  <a:pt x="10861" y="39650"/>
                  <a:pt x="0" y="43200"/>
                  <a:pt x="422" y="38511"/>
                </a:cubicBezTo>
                <a:lnTo>
                  <a:pt x="422" y="38511"/>
                </a:lnTo>
                <a:cubicBezTo>
                  <a:pt x="750" y="34836"/>
                  <a:pt x="12785" y="17028"/>
                  <a:pt x="15584" y="14358"/>
                </a:cubicBezTo>
                <a:lnTo>
                  <a:pt x="15584" y="14358"/>
                </a:lnTo>
                <a:cubicBezTo>
                  <a:pt x="18382" y="11693"/>
                  <a:pt x="34508" y="0"/>
                  <a:pt x="36286" y="2133"/>
                </a:cubicBezTo>
                <a:lnTo>
                  <a:pt x="36286" y="2133"/>
                </a:lnTo>
                <a:cubicBezTo>
                  <a:pt x="38064" y="4272"/>
                  <a:pt x="43200" y="9825"/>
                  <a:pt x="40162" y="1310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852179745" name="Shape 1061"/>
          <p:cNvSpPr>
            <a:spLocks noChangeArrowheads="1" noGrp="1"/>
          </p:cNvSpPr>
          <p:nvPr userDrawn="1"/>
        </p:nvSpPr>
        <p:spPr bwMode="auto">
          <a:xfrm>
            <a:off x="6567031" y="4629133"/>
            <a:ext cx="5395523" cy="2231707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42680" y="32337"/>
                  <a:pt x="42264" y="24810"/>
                  <a:pt x="41982" y="22533"/>
                </a:cubicBezTo>
                <a:lnTo>
                  <a:pt x="41982" y="22533"/>
                </a:lnTo>
                <a:cubicBezTo>
                  <a:pt x="41353" y="17445"/>
                  <a:pt x="31020" y="10782"/>
                  <a:pt x="25434" y="7567"/>
                </a:cubicBezTo>
                <a:lnTo>
                  <a:pt x="25434" y="7567"/>
                </a:lnTo>
                <a:cubicBezTo>
                  <a:pt x="20461" y="4707"/>
                  <a:pt x="15752" y="0"/>
                  <a:pt x="10688" y="12771"/>
                </a:cubicBezTo>
                <a:lnTo>
                  <a:pt x="10688" y="12771"/>
                </a:lnTo>
                <a:cubicBezTo>
                  <a:pt x="5409" y="26085"/>
                  <a:pt x="2329" y="33891"/>
                  <a:pt x="451" y="39632"/>
                </a:cubicBezTo>
                <a:lnTo>
                  <a:pt x="451" y="39632"/>
                </a:lnTo>
                <a:cubicBezTo>
                  <a:pt x="180" y="40459"/>
                  <a:pt x="44" y="41820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321900173" name="Shape 1062"/>
          <p:cNvSpPr>
            <a:spLocks noChangeArrowheads="1" noGrp="1"/>
          </p:cNvSpPr>
          <p:nvPr userDrawn="1"/>
        </p:nvSpPr>
        <p:spPr bwMode="auto">
          <a:xfrm>
            <a:off x="389187" y="6100774"/>
            <a:ext cx="4968521" cy="75999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37750" y="34083"/>
                  <a:pt x="28707" y="20178"/>
                  <a:pt x="28707" y="20178"/>
                </a:cubicBezTo>
                <a:lnTo>
                  <a:pt x="28707" y="20178"/>
                </a:lnTo>
                <a:cubicBezTo>
                  <a:pt x="23196" y="11772"/>
                  <a:pt x="17935" y="0"/>
                  <a:pt x="14588" y="1341"/>
                </a:cubicBezTo>
                <a:lnTo>
                  <a:pt x="14588" y="1341"/>
                </a:lnTo>
                <a:cubicBezTo>
                  <a:pt x="11240" y="2673"/>
                  <a:pt x="6350" y="22671"/>
                  <a:pt x="1602" y="37718"/>
                </a:cubicBezTo>
                <a:lnTo>
                  <a:pt x="1602" y="37718"/>
                </a:lnTo>
                <a:cubicBezTo>
                  <a:pt x="1072" y="39393"/>
                  <a:pt x="536" y="41175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681604420" name="Shape 1063"/>
          <p:cNvSpPr>
            <a:spLocks noChangeArrowheads="1" noGrp="1"/>
          </p:cNvSpPr>
          <p:nvPr userDrawn="1"/>
        </p:nvSpPr>
        <p:spPr bwMode="auto">
          <a:xfrm>
            <a:off x="0" y="3254701"/>
            <a:ext cx="2099733" cy="3343682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43200"/>
                </a:moveTo>
                <a:lnTo>
                  <a:pt x="0" y="43200"/>
                </a:lnTo>
                <a:cubicBezTo>
                  <a:pt x="10450" y="39319"/>
                  <a:pt x="26476" y="34991"/>
                  <a:pt x="31760" y="32779"/>
                </a:cubicBezTo>
                <a:lnTo>
                  <a:pt x="31760" y="32779"/>
                </a:lnTo>
                <a:cubicBezTo>
                  <a:pt x="38554" y="29929"/>
                  <a:pt x="35982" y="23868"/>
                  <a:pt x="39587" y="11934"/>
                </a:cubicBezTo>
                <a:lnTo>
                  <a:pt x="39587" y="11934"/>
                </a:lnTo>
                <a:cubicBezTo>
                  <a:pt x="43199" y="0"/>
                  <a:pt x="33409" y="2565"/>
                  <a:pt x="25082" y="2041"/>
                </a:cubicBezTo>
                <a:lnTo>
                  <a:pt x="25082" y="2041"/>
                </a:lnTo>
                <a:cubicBezTo>
                  <a:pt x="14497" y="1374"/>
                  <a:pt x="7053" y="4621"/>
                  <a:pt x="0" y="7243"/>
                </a:cubicBezTo>
                <a:lnTo>
                  <a:pt x="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518405776" name="Subtitle 2"/>
          <p:cNvSpPr>
            <a:spLocks noGrp="1"/>
          </p:cNvSpPr>
          <p:nvPr>
            <p:ph type="subTitle" idx="1"/>
          </p:nvPr>
        </p:nvSpPr>
        <p:spPr bwMode="auto">
          <a:xfrm>
            <a:off x="4655839" y="2708919"/>
            <a:ext cx="6720746" cy="720079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45665929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88049756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250036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  <p:sp>
        <p:nvSpPr>
          <p:cNvPr id="1571204189" name="Title 6"/>
          <p:cNvSpPr>
            <a:spLocks noGrp="1"/>
          </p:cNvSpPr>
          <p:nvPr>
            <p:ph type="title"/>
          </p:nvPr>
        </p:nvSpPr>
        <p:spPr bwMode="auto">
          <a:xfrm>
            <a:off x="4595833" y="1808820"/>
            <a:ext cx="6720746" cy="720079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376994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13310223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03460515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70801794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327265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8044331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1"/>
            <a:ext cx="10363199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44144662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3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13014016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2667299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444340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585056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0070955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69954757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94006293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00523295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98644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948831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62920726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99225113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599" y="2174874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750306409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44345098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70" y="2174874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30634003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391780857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700292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373559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67204670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6931797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338481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988634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51351700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79348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315194" name="Title 1"/>
          <p:cNvSpPr>
            <a:spLocks noGrp="1"/>
          </p:cNvSpPr>
          <p:nvPr>
            <p:ph type="title"/>
          </p:nvPr>
        </p:nvSpPr>
        <p:spPr bwMode="auto">
          <a:xfrm>
            <a:off x="609603" y="273049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440558511" name="Content Placeholder 2"/>
          <p:cNvSpPr>
            <a:spLocks noGrp="1"/>
          </p:cNvSpPr>
          <p:nvPr>
            <p:ph idx="1"/>
          </p:nvPr>
        </p:nvSpPr>
        <p:spPr bwMode="auto">
          <a:xfrm>
            <a:off x="4766732" y="273051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81697055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3" y="1435102"/>
            <a:ext cx="4011084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27724787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06566816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943871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3649085" name="Title 1"/>
          <p:cNvSpPr>
            <a:spLocks noGrp="1"/>
          </p:cNvSpPr>
          <p:nvPr>
            <p:ph type="title"/>
          </p:nvPr>
        </p:nvSpPr>
        <p:spPr bwMode="auto"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85594670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2389717" y="612774"/>
            <a:ext cx="7315200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213784355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49463618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76334276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728633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456947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06223882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37620985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3646491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580325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357620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39"/>
            <a:ext cx="2743200" cy="5851525"/>
          </a:xfrm>
        </p:spPr>
        <p:txBody>
          <a:bodyPr vert="eaVert"/>
          <a:lstStyle>
            <a:lvl1pPr algn="ct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684419102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39"/>
            <a:ext cx="8026399" cy="5851525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09587434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92259534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190639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451691" name="Shape 1059"/>
          <p:cNvSpPr>
            <a:spLocks noChangeArrowheads="1" noGrp="1"/>
          </p:cNvSpPr>
          <p:nvPr userDrawn="1"/>
        </p:nvSpPr>
        <p:spPr bwMode="auto">
          <a:xfrm>
            <a:off x="4976706" y="2"/>
            <a:ext cx="3058159" cy="8937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0"/>
                </a:moveTo>
                <a:lnTo>
                  <a:pt x="0" y="0"/>
                </a:lnTo>
                <a:cubicBezTo>
                  <a:pt x="1690" y="6213"/>
                  <a:pt x="3698" y="13338"/>
                  <a:pt x="6091" y="21902"/>
                </a:cubicBezTo>
                <a:lnTo>
                  <a:pt x="6091" y="21902"/>
                </a:lnTo>
                <a:cubicBezTo>
                  <a:pt x="12043" y="43199"/>
                  <a:pt x="17573" y="35347"/>
                  <a:pt x="23417" y="30579"/>
                </a:cubicBezTo>
                <a:lnTo>
                  <a:pt x="23417" y="30579"/>
                </a:lnTo>
                <a:cubicBezTo>
                  <a:pt x="29984" y="25223"/>
                  <a:pt x="42123" y="14119"/>
                  <a:pt x="42860" y="5640"/>
                </a:cubicBezTo>
                <a:lnTo>
                  <a:pt x="42860" y="5640"/>
                </a:lnTo>
                <a:cubicBezTo>
                  <a:pt x="42960" y="4507"/>
                  <a:pt x="43072" y="2479"/>
                  <a:pt x="4320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318191968" name="Shape 1060"/>
          <p:cNvSpPr>
            <a:spLocks noChangeArrowheads="1" noGrp="1"/>
          </p:cNvSpPr>
          <p:nvPr userDrawn="1"/>
        </p:nvSpPr>
        <p:spPr bwMode="auto">
          <a:xfrm>
            <a:off x="-24679" y="1"/>
            <a:ext cx="1399539" cy="17975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1743" y="2484"/>
                </a:moveTo>
                <a:lnTo>
                  <a:pt x="31743" y="2484"/>
                </a:lnTo>
                <a:cubicBezTo>
                  <a:pt x="30428" y="1799"/>
                  <a:pt x="28450" y="1080"/>
                  <a:pt x="26054" y="0"/>
                </a:cubicBezTo>
                <a:lnTo>
                  <a:pt x="0" y="0"/>
                </a:lnTo>
                <a:lnTo>
                  <a:pt x="0" y="34200"/>
                </a:lnTo>
                <a:lnTo>
                  <a:pt x="0" y="34200"/>
                </a:lnTo>
                <a:cubicBezTo>
                  <a:pt x="7029" y="37461"/>
                  <a:pt x="14504" y="41491"/>
                  <a:pt x="25070" y="40664"/>
                </a:cubicBezTo>
                <a:lnTo>
                  <a:pt x="25070" y="40664"/>
                </a:lnTo>
                <a:cubicBezTo>
                  <a:pt x="33399" y="40015"/>
                  <a:pt x="43200" y="43200"/>
                  <a:pt x="39593" y="28375"/>
                </a:cubicBezTo>
                <a:lnTo>
                  <a:pt x="39593" y="28375"/>
                </a:lnTo>
                <a:cubicBezTo>
                  <a:pt x="35986" y="13550"/>
                  <a:pt x="38530" y="6023"/>
                  <a:pt x="31743" y="248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767156408" name="Shape 1061"/>
          <p:cNvSpPr>
            <a:spLocks noChangeArrowheads="1" noGrp="1"/>
          </p:cNvSpPr>
          <p:nvPr userDrawn="1"/>
        </p:nvSpPr>
        <p:spPr bwMode="auto">
          <a:xfrm>
            <a:off x="1637457" y="1"/>
            <a:ext cx="3839633" cy="26096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2864" y="0"/>
                </a:moveTo>
                <a:lnTo>
                  <a:pt x="10583" y="0"/>
                </a:lnTo>
                <a:lnTo>
                  <a:pt x="10583" y="0"/>
                </a:lnTo>
                <a:cubicBezTo>
                  <a:pt x="9017" y="532"/>
                  <a:pt x="7515" y="1058"/>
                  <a:pt x="6214" y="1509"/>
                </a:cubicBezTo>
                <a:lnTo>
                  <a:pt x="6214" y="1509"/>
                </a:lnTo>
                <a:cubicBezTo>
                  <a:pt x="1428" y="3166"/>
                  <a:pt x="0" y="6109"/>
                  <a:pt x="212" y="8072"/>
                </a:cubicBezTo>
                <a:lnTo>
                  <a:pt x="212" y="8072"/>
                </a:lnTo>
                <a:cubicBezTo>
                  <a:pt x="758" y="13092"/>
                  <a:pt x="1111" y="20742"/>
                  <a:pt x="1212" y="25114"/>
                </a:cubicBezTo>
                <a:lnTo>
                  <a:pt x="1212" y="25114"/>
                </a:lnTo>
                <a:cubicBezTo>
                  <a:pt x="1301" y="28962"/>
                  <a:pt x="4204" y="30446"/>
                  <a:pt x="6906" y="31937"/>
                </a:cubicBezTo>
                <a:lnTo>
                  <a:pt x="6906" y="31937"/>
                </a:lnTo>
                <a:cubicBezTo>
                  <a:pt x="9246" y="33229"/>
                  <a:pt x="19775" y="38395"/>
                  <a:pt x="22112" y="39685"/>
                </a:cubicBezTo>
                <a:lnTo>
                  <a:pt x="22112" y="39685"/>
                </a:lnTo>
                <a:cubicBezTo>
                  <a:pt x="22112" y="39685"/>
                  <a:pt x="27355" y="43200"/>
                  <a:pt x="30298" y="38395"/>
                </a:cubicBezTo>
                <a:lnTo>
                  <a:pt x="30298" y="38395"/>
                </a:lnTo>
                <a:cubicBezTo>
                  <a:pt x="33277" y="33533"/>
                  <a:pt x="36665" y="27667"/>
                  <a:pt x="39367" y="23576"/>
                </a:cubicBezTo>
                <a:lnTo>
                  <a:pt x="39367" y="23576"/>
                </a:lnTo>
                <a:cubicBezTo>
                  <a:pt x="41761" y="19953"/>
                  <a:pt x="43200" y="17587"/>
                  <a:pt x="40977" y="12816"/>
                </a:cubicBezTo>
                <a:lnTo>
                  <a:pt x="40977" y="12816"/>
                </a:lnTo>
                <a:cubicBezTo>
                  <a:pt x="39697" y="10062"/>
                  <a:pt x="35347" y="3936"/>
                  <a:pt x="3286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756352484" name="Title 1"/>
          <p:cNvSpPr>
            <a:spLocks noGrp="1"/>
          </p:cNvSpPr>
          <p:nvPr>
            <p:ph type="title"/>
          </p:nvPr>
        </p:nvSpPr>
        <p:spPr bwMode="auto">
          <a:xfrm>
            <a:off x="609599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1444177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600201"/>
            <a:ext cx="109728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4567655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09599" y="6356351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312631250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165599" y="6356351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18108813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737599" y="6356351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0">
        <a:spcBef>
          <a:spcPts val="0"/>
        </a:spcBef>
        <a:buNone/>
        <a:defRPr sz="44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599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media1.sv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mckinsey.com/capabilities/tech-and-ai/our-insights/big-data-the-next-frontier-for-innovation" TargetMode="External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1500651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3107099" y="2381249"/>
            <a:ext cx="8476179" cy="1938349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US" sz="4800"/>
              <a:t>Big Data: </a:t>
            </a:r>
            <a:r>
              <a:rPr lang="en-US" sz="4800" b="1"/>
              <a:t>Perkenalan </a:t>
            </a:r>
            <a:r>
              <a:rPr lang="en-US" sz="4800"/>
              <a:t>aja dulu</a:t>
            </a:r>
            <a:endParaRPr sz="4800"/>
          </a:p>
        </p:txBody>
      </p:sp>
      <p:sp>
        <p:nvSpPr>
          <p:cNvPr id="200253316" name="Subtitle 2"/>
          <p:cNvSpPr>
            <a:spLocks noGrp="1"/>
          </p:cNvSpPr>
          <p:nvPr>
            <p:ph type="subTitle" idx="1"/>
          </p:nvPr>
        </p:nvSpPr>
        <p:spPr bwMode="auto">
          <a:xfrm>
            <a:off x="4922539" y="4499619"/>
            <a:ext cx="6720746" cy="720079"/>
          </a:xfrm>
        </p:spPr>
        <p:txBody>
          <a:bodyPr/>
          <a:lstStyle/>
          <a:p>
            <a:pPr>
              <a:defRPr/>
            </a:pPr>
            <a:r>
              <a:rPr lang="en-US"/>
              <a:t>20260211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781883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55420" y="579966"/>
            <a:ext cx="8109729" cy="4445532"/>
          </a:xfrm>
          <a:prstGeom prst="rect">
            <a:avLst/>
          </a:prstGeom>
        </p:spPr>
      </p:pic>
      <p:sp>
        <p:nvSpPr>
          <p:cNvPr id="570807638" name=""/>
          <p:cNvSpPr txBox="1"/>
          <p:nvPr/>
        </p:nvSpPr>
        <p:spPr bwMode="auto">
          <a:xfrm rot="0" flipH="0" flipV="0">
            <a:off x="3164249" y="5429250"/>
            <a:ext cx="5368485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Phenomena, Observation, Signal (apalah </a:t>
            </a:r>
            <a:r>
              <a:rPr i="1"/>
              <a:t>anything</a:t>
            </a:r>
            <a:r>
              <a:rPr/>
              <a:t>)</a:t>
            </a:r>
            <a:endParaRPr/>
          </a:p>
        </p:txBody>
      </p:sp>
      <p:sp>
        <p:nvSpPr>
          <p:cNvPr id="727200808" name=""/>
          <p:cNvSpPr/>
          <p:nvPr/>
        </p:nvSpPr>
        <p:spPr bwMode="auto">
          <a:xfrm rot="16199969" flipH="0" flipV="0">
            <a:off x="1974432" y="4805362"/>
            <a:ext cx="1143000" cy="581024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6655555" name=""/>
          <p:cNvSpPr txBox="1"/>
          <p:nvPr/>
        </p:nvSpPr>
        <p:spPr bwMode="auto">
          <a:xfrm rot="0" flipH="0" flipV="0">
            <a:off x="1259249" y="4912814"/>
            <a:ext cx="831555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record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1423213" name="Title 1"/>
          <p:cNvSpPr>
            <a:spLocks noGrp="1"/>
          </p:cNvSpPr>
          <p:nvPr>
            <p:ph type="title"/>
          </p:nvPr>
        </p:nvSpPr>
        <p:spPr bwMode="auto">
          <a:xfrm>
            <a:off x="662516" y="2341034"/>
            <a:ext cx="10972800" cy="114300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 algn="l">
              <a:defRPr/>
            </a:pPr>
            <a:r>
              <a:rPr/>
              <a:t>Big</a:t>
            </a:r>
            <a:r>
              <a:rPr/>
              <a:t>: besar</a:t>
            </a:r>
            <a:br>
              <a:rPr/>
            </a:br>
            <a:r>
              <a:rPr/>
              <a:t>Data: </a:t>
            </a:r>
            <a:r>
              <a:rPr i="1"/>
              <a:t>catatan</a:t>
            </a:r>
            <a:br>
              <a:rPr/>
            </a:b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0721357" name="Title 1"/>
          <p:cNvSpPr>
            <a:spLocks noGrp="1"/>
          </p:cNvSpPr>
          <p:nvPr>
            <p:ph type="title"/>
          </p:nvPr>
        </p:nvSpPr>
        <p:spPr bwMode="auto">
          <a:xfrm>
            <a:off x="662515" y="2341033"/>
            <a:ext cx="10972800" cy="114300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 algn="l">
              <a:defRPr/>
            </a:pPr>
            <a:r>
              <a:rPr/>
              <a:t>Big</a:t>
            </a:r>
            <a:r>
              <a:rPr/>
              <a:t>: besar</a:t>
            </a:r>
            <a:br>
              <a:rPr/>
            </a:br>
            <a:r>
              <a:rPr/>
              <a:t>Data: </a:t>
            </a:r>
            <a:r>
              <a:rPr i="1"/>
              <a:t>catatan</a:t>
            </a:r>
            <a:br>
              <a:rPr/>
            </a:br>
            <a:br>
              <a:rPr/>
            </a:br>
            <a:r>
              <a:rPr lang="en-US" sz="4000" b="0" i="0" u="none" strike="noStrike" cap="none" spc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kumpulan data berukuran sangat besar, kompleks, dan </a:t>
            </a:r>
            <a:r>
              <a:rPr lang="en-US" sz="4000" b="1" i="1" u="none" strike="noStrike" cap="none" spc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terus </a:t>
            </a:r>
            <a:r>
              <a:rPr lang="en-US" sz="4000" b="1" i="0" u="none" strike="noStrike" cap="none" spc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bertambah</a:t>
            </a:r>
            <a:r>
              <a:rPr lang="en-US" sz="4000" b="0" i="0" u="none" strike="noStrike" cap="none" spc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 dengan cepat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305915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sz="3200"/>
              <a:t>Karakteristik (5+2V)</a:t>
            </a:r>
            <a:endParaRPr sz="3200"/>
          </a:p>
        </p:txBody>
      </p:sp>
      <p:sp>
        <p:nvSpPr>
          <p:cNvPr id="970563896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Volume (jumlah data sangat besar)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Velocity (kecepatan aliran dan pemrosesan data yang tinggi)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Variety (keragaman format data seperti terstruktur, semi-terstruktur, dan tidak terstruktur)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Veracity (tingkat keakuratan dan keandalan data)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Value (nilai atau manfaat yang dapat dihasilkan dari data). 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Variability (perubahan pola data)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Visualization (kemampuan menyajikan data secara informatif)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18789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sz="3200"/>
              <a:t>Karakteristik (5+2V)</a:t>
            </a:r>
            <a:endParaRPr sz="3200"/>
          </a:p>
        </p:txBody>
      </p:sp>
      <p:pic>
        <p:nvPicPr>
          <p:cNvPr id="822792520" name="Picture 2"/>
          <p:cNvPicPr>
            <a:picLocks noChangeAspect="1" noChangeArrowheads="1" noGrp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0" t="0" r="49931" b="17722"/>
          <a:stretch/>
        </p:blipFill>
        <p:spPr bwMode="auto">
          <a:xfrm flipH="0" flipV="0">
            <a:off x="1848684" y="939368"/>
            <a:ext cx="7627466" cy="5189217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805747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sz="3200"/>
              <a:t>Sumber</a:t>
            </a:r>
            <a:endParaRPr sz="3200"/>
          </a:p>
        </p:txBody>
      </p:sp>
      <p:sp>
        <p:nvSpPr>
          <p:cNvPr id="57494589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sensor IoT (cuaca)</a:t>
            </a:r>
            <a:endParaRPr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media sosial</a:t>
            </a:r>
            <a:r>
              <a:rPr/>
              <a:t> (konten, komentar, clickstream, dlsb)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transaksi digital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1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stream </a:t>
            </a: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citra video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log sistem</a:t>
            </a:r>
            <a:endParaRPr/>
          </a:p>
          <a:p>
            <a:pPr>
              <a:defRPr/>
            </a:pPr>
            <a:r>
              <a:rPr lang="en-US"/>
              <a:t>data saintifik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053697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609599" y="49046"/>
            <a:ext cx="10972800" cy="865854"/>
          </a:xfrm>
        </p:spPr>
        <p:txBody>
          <a:bodyPr/>
          <a:lstStyle/>
          <a:p>
            <a:pPr algn="l">
              <a:defRPr/>
            </a:pPr>
            <a:r>
              <a:rPr sz="3200"/>
              <a:t>Domain</a:t>
            </a:r>
            <a:r>
              <a:rPr sz="3200"/>
              <a:t> populer</a:t>
            </a:r>
            <a:r>
              <a:rPr sz="3200"/>
              <a:t> (by valuation)</a:t>
            </a:r>
            <a:endParaRPr sz="3200"/>
          </a:p>
        </p:txBody>
      </p:sp>
      <p:sp>
        <p:nvSpPr>
          <p:cNvPr id="351845335" name="Content Placeholder 2"/>
          <p:cNvSpPr>
            <a:spLocks noGrp="1"/>
          </p:cNvSpPr>
          <p:nvPr>
            <p:ph idx="1"/>
          </p:nvPr>
        </p:nvSpPr>
        <p:spPr bwMode="auto">
          <a:xfrm>
            <a:off x="321343" y="914901"/>
            <a:ext cx="10972800" cy="452596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/>
              <a:t>Healthcare</a:t>
            </a:r>
            <a:endParaRPr/>
          </a:p>
          <a:p>
            <a:pPr>
              <a:defRPr/>
            </a:pPr>
            <a:r>
              <a:rPr/>
              <a:t>Public sector</a:t>
            </a:r>
            <a:endParaRPr/>
          </a:p>
          <a:p>
            <a:pPr>
              <a:defRPr/>
            </a:pPr>
            <a:r>
              <a:rPr/>
              <a:t>Retail</a:t>
            </a:r>
            <a:endParaRPr/>
          </a:p>
          <a:p>
            <a:pPr>
              <a:defRPr/>
            </a:pPr>
            <a:r>
              <a:rPr/>
              <a:t>Manufacturing</a:t>
            </a:r>
            <a:endParaRPr/>
          </a:p>
          <a:p>
            <a:pPr>
              <a:defRPr/>
            </a:pPr>
            <a:r>
              <a:rPr/>
              <a:t>Personal</a:t>
            </a:r>
            <a:r>
              <a:rPr/>
              <a:t>-location</a:t>
            </a:r>
            <a:endParaRPr/>
          </a:p>
        </p:txBody>
      </p:sp>
      <p:sp>
        <p:nvSpPr>
          <p:cNvPr id="1972012713" name=""/>
          <p:cNvSpPr txBox="1"/>
          <p:nvPr/>
        </p:nvSpPr>
        <p:spPr bwMode="auto">
          <a:xfrm rot="0" flipH="0" flipV="0">
            <a:off x="609599" y="6417644"/>
            <a:ext cx="1009040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200" u="sng">
                <a:hlinkClick r:id="rId3" tooltip=""/>
              </a:rPr>
              <a:t>https://www.mckinsey.com/capabilities/tech-and-ai/our-insights/big-data-the-next-frontier-for-innovation</a:t>
            </a:r>
            <a:r>
              <a:rPr sz="1200"/>
              <a:t> </a:t>
            </a:r>
            <a:endParaRPr sz="1200"/>
          </a:p>
        </p:txBody>
      </p:sp>
      <p:pic>
        <p:nvPicPr>
          <p:cNvPr id="1883931918" name=""/>
          <p:cNvPicPr>
            <a:picLocks noChangeAspect="1"/>
          </p:cNvPicPr>
          <p:nvPr/>
        </p:nvPicPr>
        <p:blipFill>
          <a:blip r:embed="rId4"/>
          <a:srcRect l="8002" t="0" r="14812" b="0"/>
          <a:stretch/>
        </p:blipFill>
        <p:spPr bwMode="auto">
          <a:xfrm flipH="0" flipV="0">
            <a:off x="3996769" y="1016585"/>
            <a:ext cx="2816729" cy="2050463"/>
          </a:xfrm>
          <a:prstGeom prst="rect">
            <a:avLst/>
          </a:prstGeom>
        </p:spPr>
      </p:pic>
      <p:pic>
        <p:nvPicPr>
          <p:cNvPr id="2009742306" name=""/>
          <p:cNvPicPr>
            <a:picLocks noChangeAspect="1"/>
          </p:cNvPicPr>
          <p:nvPr/>
        </p:nvPicPr>
        <p:blipFill>
          <a:blip r:embed="rId5"/>
          <a:srcRect l="0" t="0" r="0" b="3228"/>
          <a:stretch/>
        </p:blipFill>
        <p:spPr bwMode="auto">
          <a:xfrm rot="0" flipH="0" flipV="0">
            <a:off x="6878643" y="914901"/>
            <a:ext cx="2980547" cy="2152148"/>
          </a:xfrm>
          <a:prstGeom prst="rect">
            <a:avLst/>
          </a:prstGeom>
        </p:spPr>
      </p:pic>
      <p:pic>
        <p:nvPicPr>
          <p:cNvPr id="778352424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4663519" y="3558882"/>
            <a:ext cx="4436644" cy="2843722"/>
          </a:xfrm>
          <a:prstGeom prst="rect">
            <a:avLst/>
          </a:prstGeom>
        </p:spPr>
      </p:pic>
      <p:pic>
        <p:nvPicPr>
          <p:cNvPr id="1219173781" name=""/>
          <p:cNvPicPr>
            <a:picLocks noChangeAspect="1"/>
          </p:cNvPicPr>
          <p:nvPr/>
        </p:nvPicPr>
        <p:blipFill>
          <a:blip r:embed="rId7"/>
          <a:srcRect l="0" t="0" r="0" b="35203"/>
          <a:stretch/>
        </p:blipFill>
        <p:spPr bwMode="auto">
          <a:xfrm flipH="0" flipV="0">
            <a:off x="9759567" y="366961"/>
            <a:ext cx="2167682" cy="2966788"/>
          </a:xfrm>
          <a:prstGeom prst="rect">
            <a:avLst/>
          </a:prstGeom>
        </p:spPr>
      </p:pic>
      <p:pic>
        <p:nvPicPr>
          <p:cNvPr id="368112614" name=""/>
          <p:cNvPicPr>
            <a:picLocks noChangeAspect="1"/>
          </p:cNvPicPr>
          <p:nvPr/>
        </p:nvPicPr>
        <p:blipFill>
          <a:blip r:embed="rId8"/>
          <a:srcRect l="50382" t="40983" r="3739" b="10067"/>
          <a:stretch/>
        </p:blipFill>
        <p:spPr bwMode="auto">
          <a:xfrm flipH="0" flipV="0">
            <a:off x="9416667" y="3558882"/>
            <a:ext cx="2465494" cy="27523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630822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sz="3200"/>
              <a:t>Terus Big Data </a:t>
            </a:r>
            <a:r>
              <a:rPr sz="3200" i="1"/>
              <a:t>diapain</a:t>
            </a:r>
            <a:r>
              <a:rPr sz="3200"/>
              <a:t>?</a:t>
            </a:r>
            <a:endParaRPr sz="3200"/>
          </a:p>
        </p:txBody>
      </p:sp>
      <p:sp>
        <p:nvSpPr>
          <p:cNvPr id="1015327642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Disimpan dengan baik</a:t>
            </a:r>
            <a:endParaRPr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Analisis (pengenalan pola, cari </a:t>
            </a:r>
            <a:r>
              <a:rPr lang="en-US" sz="3200" b="0" i="1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informasi)</a:t>
            </a:r>
            <a:endParaRPr lang="en-US" sz="3200" b="0" i="1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Diturunkan/dikombinasikan jadi informasi/data turunan</a:t>
            </a:r>
            <a:endParaRPr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2750326" name="Content Placeholder 2"/>
          <p:cNvSpPr>
            <a:spLocks noGrp="1"/>
          </p:cNvSpPr>
          <p:nvPr>
            <p:ph idx="1"/>
          </p:nvPr>
        </p:nvSpPr>
        <p:spPr bwMode="auto">
          <a:xfrm>
            <a:off x="723899" y="552451"/>
            <a:ext cx="10972800" cy="452596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 algn="l">
              <a:buFont typeface="Arial"/>
              <a:buNone/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Software/framework pengolahan Big Data (yang populer)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/>
              <a:t>Google MapReduce</a:t>
            </a:r>
            <a:endParaRPr/>
          </a:p>
          <a:p>
            <a:pPr>
              <a:defRPr/>
            </a:pPr>
            <a:r>
              <a:rPr/>
              <a:t>Apache Hadoop</a:t>
            </a:r>
            <a:endParaRPr/>
          </a:p>
          <a:p>
            <a:pPr>
              <a:defRPr/>
            </a:pPr>
            <a:endParaRPr/>
          </a:p>
          <a:p>
            <a:pPr marL="0" indent="0">
              <a:buFont typeface="Arial"/>
              <a:buNone/>
              <a:defRPr/>
            </a:pPr>
            <a:r>
              <a:rPr/>
              <a:t>Akuisisi data mengikuti API penyelia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273982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sz="3200" b="0"/>
              <a:t>Kurikulum </a:t>
            </a:r>
            <a:r>
              <a:rPr sz="3200" b="1"/>
              <a:t>O</a:t>
            </a:r>
            <a:r>
              <a:rPr sz="3200"/>
              <a:t>utcome </a:t>
            </a:r>
            <a:r>
              <a:rPr sz="3200" b="1"/>
              <a:t>B</a:t>
            </a:r>
            <a:r>
              <a:rPr sz="3200"/>
              <a:t>ased </a:t>
            </a:r>
            <a:r>
              <a:rPr sz="3200" b="1"/>
              <a:t>E</a:t>
            </a:r>
            <a:r>
              <a:rPr sz="3200"/>
              <a:t>ducation</a:t>
            </a:r>
            <a:endParaRPr sz="3200"/>
          </a:p>
        </p:txBody>
      </p:sp>
      <p:sp>
        <p:nvSpPr>
          <p:cNvPr id="1963445952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Mahasiswa menentukan sendiri target yang hendak dicapai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Dosen sebagai fasilitator-konsultan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Self-assessment, peer-evaluation, portfolio</a:t>
            </a:r>
            <a:endParaRPr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8024248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33499" y="0"/>
            <a:ext cx="8650649" cy="62063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urt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13</Slides>
  <Notes>13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2026-02-11T06:04:39Z</dcterms:modified>
</cp:coreProperties>
</file>