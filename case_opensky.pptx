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47861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4357925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26267398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8049033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115569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4280972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5282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3791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2101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332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6376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461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392081-CE4B-4528-EDD0-8DFEDE1D56C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3317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4956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6075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658B42-A835-3952-57FB-512FF6FFD4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498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2619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2407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07A2C2-74AB-0DD6-C1C2-322FEB8DC08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50872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00140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884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E26361-8142-E8D3-D892-7B53DEA80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3797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7301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666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AAFE05-CC3D-D57A-7456-11FACDA423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3686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27726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579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DF3F5A-77C4-41C3-E2BD-F1CA4CB46D2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1690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1940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729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C189B6-58B4-5079-69DC-4D1F286971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0471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42483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32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6B357F-A276-4526-5D77-CBB51CE14E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93551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3508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2502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96323-28B2-6B16-787F-CE901AD5AA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46144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72455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63806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7EE924-7800-1C29-6A5E-207217869D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07197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48217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8917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812119-2D05-28CD-4A32-F5A3A6B938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510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4961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209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6774EB-7C67-A957-D2E8-9BEA0BFDD7F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91840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2102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355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ECC7-4B07-28CB-5C76-DFCAEE2933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0028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48725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01859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545BDC-7D65-F0D8-C64B-91B09568DB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750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7828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263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BD9083-53FA-A808-5B35-B6B77935A1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524175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59265795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52240529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07814082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36287371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34411719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4347459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079943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49176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023727441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11539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4884502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605272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071768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4615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429779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2231374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10033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592428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98066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63717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0366859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1677984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099539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405716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31298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87442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84551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2035307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3735624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4875781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4381963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8651887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189829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07932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8691157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0480161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0507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603996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56503038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49061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9590273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81142677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1704077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3625471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6977720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76025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880649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74670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04833280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0819893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4500184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60129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447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1787899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5636476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6298795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21108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80867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4542280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2692427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030127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02089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7428129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9734012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08404353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2460424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8018079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4874392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4957657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32951974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hyperlink" Target="https://map.opensky-network.org/" TargetMode="Externa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hyperlink" Target="https://www.adsbexchange.com/" TargetMode="Externa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www.flightradar24.com/" TargetMode="Externa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juanda-airport.com/id/terminal-kedatangan/index/domestic" TargetMode="External"/><Relationship Id="rId4" Type="http://schemas.openxmlformats.org/officeDocument/2006/relationships/hyperlink" Target="https://juanda-airport.com/id/terminal-kedatangan/index/international" TargetMode="External"/><Relationship Id="rId5" Type="http://schemas.openxmlformats.org/officeDocument/2006/relationships/hyperlink" Target="https://juanda-airport.com/id/terminal-keberangkatan/index/international" TargetMode="External"/><Relationship Id="rId6" Type="http://schemas.openxmlformats.org/officeDocument/2006/relationships/hyperlink" Target="https://juanda-airport.com/id/terminal-keberangkatan/index/domestic" TargetMode="External"/><Relationship Id="rId7" Type="http://schemas.openxmlformats.org/officeDocument/2006/relationships/image" Target="../media/image1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0191493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Data: </a:t>
            </a:r>
            <a:r>
              <a:rPr lang="en-US" sz="4800" b="1"/>
              <a:t>Penerbangan</a:t>
            </a:r>
            <a:endParaRPr sz="4800"/>
          </a:p>
        </p:txBody>
      </p:sp>
      <p:sp>
        <p:nvSpPr>
          <p:cNvPr id="1331837338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223893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12333" y="370416"/>
            <a:ext cx="9118410" cy="60748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782850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3342" y="1470553"/>
            <a:ext cx="10017003" cy="4874153"/>
          </a:xfrm>
          <a:prstGeom prst="rect">
            <a:avLst/>
          </a:prstGeom>
        </p:spPr>
      </p:pic>
      <p:sp>
        <p:nvSpPr>
          <p:cNvPr id="240307791" name=""/>
          <p:cNvSpPr txBox="1"/>
          <p:nvPr/>
        </p:nvSpPr>
        <p:spPr bwMode="auto">
          <a:xfrm rot="0" flipH="0" flipV="0">
            <a:off x="493342" y="6344707"/>
            <a:ext cx="3563356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200" u="sng">
                <a:hlinkClick r:id="rId4" tooltip=""/>
              </a:rPr>
              <a:t>https://map.opensky-network.org/</a:t>
            </a:r>
            <a:r>
              <a:rPr sz="1200"/>
              <a:t> </a:t>
            </a:r>
            <a:endParaRPr sz="1200"/>
          </a:p>
        </p:txBody>
      </p:sp>
      <p:sp>
        <p:nvSpPr>
          <p:cNvPr id="1064758890" name="Title 1"/>
          <p:cNvSpPr>
            <a:spLocks noGrp="1"/>
          </p:cNvSpPr>
          <p:nvPr>
            <p:ph type="title"/>
          </p:nvPr>
        </p:nvSpPr>
        <p:spPr bwMode="auto">
          <a:xfrm>
            <a:off x="609598" y="274637"/>
            <a:ext cx="10972800" cy="1143000"/>
          </a:xfrm>
        </p:spPr>
        <p:txBody>
          <a:bodyPr/>
          <a:lstStyle/>
          <a:p>
            <a:pPr>
              <a:defRPr/>
            </a:pPr>
            <a:r>
              <a:rPr/>
              <a:t>Opensky Network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7658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ADS-B Exchange</a:t>
            </a:r>
            <a:endParaRPr/>
          </a:p>
        </p:txBody>
      </p:sp>
      <p:pic>
        <p:nvPicPr>
          <p:cNvPr id="108726936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46022" y="1274762"/>
            <a:ext cx="10499954" cy="5255809"/>
          </a:xfrm>
          <a:prstGeom prst="rect">
            <a:avLst/>
          </a:prstGeom>
        </p:spPr>
      </p:pic>
      <p:sp>
        <p:nvSpPr>
          <p:cNvPr id="546289677" name=""/>
          <p:cNvSpPr txBox="1"/>
          <p:nvPr/>
        </p:nvSpPr>
        <p:spPr bwMode="auto">
          <a:xfrm rot="0" flipH="0" flipV="0">
            <a:off x="951569" y="6530571"/>
            <a:ext cx="347451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200" u="sng">
                <a:hlinkClick r:id="rId4" tooltip=""/>
              </a:rPr>
              <a:t>https://www.adsbexchange.com/</a:t>
            </a:r>
            <a:r>
              <a:rPr sz="1200"/>
              <a:t> 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39005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Flighradar24</a:t>
            </a:r>
            <a:endParaRPr/>
          </a:p>
        </p:txBody>
      </p:sp>
      <p:pic>
        <p:nvPicPr>
          <p:cNvPr id="351287581" name=""/>
          <p:cNvPicPr>
            <a:picLocks noChangeAspect="1"/>
          </p:cNvPicPr>
          <p:nvPr/>
        </p:nvPicPr>
        <p:blipFill>
          <a:blip r:embed="rId3"/>
          <a:srcRect l="0" t="11610" r="7343" b="0"/>
          <a:stretch/>
        </p:blipFill>
        <p:spPr bwMode="auto">
          <a:xfrm flipH="0" flipV="0">
            <a:off x="878415" y="1335681"/>
            <a:ext cx="9249771" cy="5130586"/>
          </a:xfrm>
          <a:prstGeom prst="rect">
            <a:avLst/>
          </a:prstGeom>
        </p:spPr>
      </p:pic>
      <p:sp>
        <p:nvSpPr>
          <p:cNvPr id="1386599234" name=""/>
          <p:cNvSpPr txBox="1"/>
          <p:nvPr/>
        </p:nvSpPr>
        <p:spPr bwMode="auto">
          <a:xfrm rot="0" flipH="0" flipV="0">
            <a:off x="878415" y="6586577"/>
            <a:ext cx="3258187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200" u="sng">
                <a:hlinkClick r:id="rId4" tooltip=""/>
              </a:rPr>
              <a:t>https://www.flightradar24.com/</a:t>
            </a:r>
            <a:r>
              <a:rPr sz="1200"/>
              <a:t> 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95458" name=""/>
          <p:cNvSpPr txBox="1"/>
          <p:nvPr/>
        </p:nvSpPr>
        <p:spPr bwMode="auto">
          <a:xfrm rot="0" flipH="0" flipV="0">
            <a:off x="9359529" y="166687"/>
            <a:ext cx="2577938" cy="5794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200"/>
              <a:t>Sumber Data</a:t>
            </a:r>
            <a:endParaRPr sz="3200"/>
          </a:p>
        </p:txBody>
      </p:sp>
      <p:pic>
        <p:nvPicPr>
          <p:cNvPr id="645707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72805" y="2867024"/>
            <a:ext cx="2143125" cy="2143125"/>
          </a:xfrm>
          <a:prstGeom prst="rect">
            <a:avLst/>
          </a:prstGeom>
        </p:spPr>
      </p:pic>
      <p:pic>
        <p:nvPicPr>
          <p:cNvPr id="47384422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-71437" y="2012155"/>
            <a:ext cx="2413576" cy="1416843"/>
          </a:xfrm>
          <a:prstGeom prst="rect">
            <a:avLst/>
          </a:prstGeom>
        </p:spPr>
      </p:pic>
      <p:sp>
        <p:nvSpPr>
          <p:cNvPr id="234180915" name=""/>
          <p:cNvSpPr txBox="1"/>
          <p:nvPr/>
        </p:nvSpPr>
        <p:spPr bwMode="auto">
          <a:xfrm rot="0" flipH="0" flipV="0">
            <a:off x="3415929" y="1586102"/>
            <a:ext cx="8665340" cy="118908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marL="349965" indent="-349965">
              <a:buFont typeface="Arial"/>
              <a:buChar char="•"/>
              <a:defRPr/>
            </a:pPr>
            <a:r>
              <a:rPr sz="2400"/>
              <a:t>Raspberry pi, SDR, antena pada 1090 MHz (crowdsourcing)</a:t>
            </a:r>
            <a:endParaRPr sz="2400"/>
          </a:p>
          <a:p>
            <a:pPr marL="349965" indent="-349965">
              <a:buFont typeface="Arial"/>
              <a:buChar char="•"/>
              <a:defRPr/>
            </a:pPr>
            <a:r>
              <a:rPr sz="2400"/>
              <a:t>FLARM</a:t>
            </a:r>
            <a:endParaRPr sz="2400"/>
          </a:p>
          <a:p>
            <a:pPr marL="349965" indent="-349965">
              <a:buFont typeface="Arial"/>
              <a:buChar char="•"/>
              <a:defRPr/>
            </a:pPr>
            <a:r>
              <a:rPr sz="2400"/>
              <a:t>Frekuensi ADS-B</a:t>
            </a:r>
            <a:endParaRPr sz="2400"/>
          </a:p>
        </p:txBody>
      </p:sp>
      <p:pic>
        <p:nvPicPr>
          <p:cNvPr id="117892691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153009" y="5563100"/>
            <a:ext cx="1620468" cy="1075991"/>
          </a:xfrm>
          <a:prstGeom prst="rect">
            <a:avLst/>
          </a:prstGeom>
        </p:spPr>
      </p:pic>
      <p:pic>
        <p:nvPicPr>
          <p:cNvPr id="2136552826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2153868" y="5469651"/>
            <a:ext cx="2156249" cy="1262888"/>
          </a:xfrm>
          <a:prstGeom prst="rect">
            <a:avLst/>
          </a:prstGeom>
        </p:spPr>
      </p:pic>
      <p:pic>
        <p:nvPicPr>
          <p:cNvPr id="94678303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4896654" y="2921618"/>
            <a:ext cx="5361778" cy="27665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188343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22012" y="684861"/>
            <a:ext cx="9001799" cy="5488276"/>
          </a:xfrm>
          <a:prstGeom prst="rect">
            <a:avLst/>
          </a:prstGeom>
        </p:spPr>
      </p:pic>
      <p:sp>
        <p:nvSpPr>
          <p:cNvPr id="6998026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Data Historis</a:t>
            </a:r>
            <a:endParaRPr/>
          </a:p>
        </p:txBody>
      </p:sp>
      <p:sp>
        <p:nvSpPr>
          <p:cNvPr id="2078796187" name=""/>
          <p:cNvSpPr txBox="1"/>
          <p:nvPr/>
        </p:nvSpPr>
        <p:spPr bwMode="auto">
          <a:xfrm rot="0" flipH="0" flipV="0">
            <a:off x="191044" y="6389370"/>
            <a:ext cx="3499349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https://opensky-network.org/data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37840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0" y="309104"/>
            <a:ext cx="9538124" cy="5882145"/>
          </a:xfrm>
          <a:prstGeom prst="rect">
            <a:avLst/>
          </a:prstGeom>
        </p:spPr>
      </p:pic>
      <p:sp>
        <p:nvSpPr>
          <p:cNvPr id="18537464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Data Live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64158" name="Title 1"/>
          <p:cNvSpPr>
            <a:spLocks noGrp="1"/>
          </p:cNvSpPr>
          <p:nvPr>
            <p:ph type="title"/>
          </p:nvPr>
        </p:nvSpPr>
        <p:spPr bwMode="auto">
          <a:xfrm>
            <a:off x="752473" y="167481"/>
            <a:ext cx="10972800" cy="1143000"/>
          </a:xfrm>
        </p:spPr>
        <p:txBody>
          <a:bodyPr/>
          <a:lstStyle/>
          <a:p>
            <a:pPr>
              <a:defRPr/>
            </a:pPr>
            <a:r>
              <a:rPr/>
              <a:t>Volume, Velocity</a:t>
            </a:r>
            <a:endParaRPr/>
          </a:p>
        </p:txBody>
      </p:sp>
      <p:pic>
        <p:nvPicPr>
          <p:cNvPr id="1303732237" name=""/>
          <p:cNvPicPr>
            <a:picLocks noChangeAspect="1"/>
          </p:cNvPicPr>
          <p:nvPr/>
        </p:nvPicPr>
        <p:blipFill>
          <a:blip r:embed="rId3"/>
          <a:srcRect l="17700" t="0" r="0" b="0"/>
          <a:stretch/>
        </p:blipFill>
        <p:spPr bwMode="auto">
          <a:xfrm flipH="0" flipV="0">
            <a:off x="132187" y="1197331"/>
            <a:ext cx="9155905" cy="5446355"/>
          </a:xfrm>
          <a:prstGeom prst="rect">
            <a:avLst/>
          </a:prstGeom>
        </p:spPr>
      </p:pic>
      <p:sp>
        <p:nvSpPr>
          <p:cNvPr id="1675301872" name=""/>
          <p:cNvSpPr txBox="1"/>
          <p:nvPr/>
        </p:nvSpPr>
        <p:spPr bwMode="auto">
          <a:xfrm rot="0" flipH="0" flipV="0">
            <a:off x="9430968" y="2000248"/>
            <a:ext cx="2210936" cy="22863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/>
              <a:t>&gt;5000an pesawat tiap waktu</a:t>
            </a:r>
            <a:endParaRPr sz="2400"/>
          </a:p>
          <a:p>
            <a:pPr>
              <a:defRPr/>
            </a:pPr>
            <a:endParaRPr sz="2400"/>
          </a:p>
          <a:p>
            <a:pPr>
              <a:defRPr/>
            </a:pPr>
            <a:r>
              <a:rPr sz="2400"/>
              <a:t>Update tiap 2 detik</a:t>
            </a:r>
            <a:endParaRPr sz="2400"/>
          </a:p>
        </p:txBody>
      </p:sp>
      <p:sp>
        <p:nvSpPr>
          <p:cNvPr id="201848963" name=""/>
          <p:cNvSpPr/>
          <p:nvPr/>
        </p:nvSpPr>
        <p:spPr bwMode="auto">
          <a:xfrm rot="0" flipH="0" flipV="0">
            <a:off x="6478218" y="3024187"/>
            <a:ext cx="964406" cy="440530"/>
          </a:xfrm>
          <a:prstGeom prst="rect">
            <a:avLst/>
          </a:prstGeom>
          <a:solidFill>
            <a:srgbClr val="FFFF00">
              <a:alpha val="18000"/>
            </a:srgbClr>
          </a:solidFill>
          <a:ln w="25400" cap="flat" cmpd="sng" algn="ctr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313037" name=""/>
          <p:cNvSpPr/>
          <p:nvPr/>
        </p:nvSpPr>
        <p:spPr bwMode="auto">
          <a:xfrm>
            <a:off x="102718" y="5896927"/>
            <a:ext cx="4730231" cy="8233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200" b="0" i="0" u="sng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3" tooltip=""/>
              </a:rPr>
              <a:t>https://juanda-airport.com/id/terminal-kedatangan/index/domestic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200" b="0" i="0" u="sng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4" tooltip=""/>
              </a:rPr>
              <a:t>https://juanda-airport.com/id/terminal-kedatangan/index/international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200" b="0" i="0" u="sng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5" tooltip=""/>
              </a:rPr>
              <a:t>https://juanda-airport.com/id/terminal-keberangkatan/index/international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200" b="0" i="0" u="sng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6" tooltip=""/>
              </a:rPr>
              <a:t>https://juanda-airport.com/id/terminal-keberangkatan/index/domestic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</a:t>
            </a:r>
            <a:endParaRPr/>
          </a:p>
        </p:txBody>
      </p:sp>
      <p:pic>
        <p:nvPicPr>
          <p:cNvPr id="130411491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102718" y="142875"/>
            <a:ext cx="6639948" cy="5040051"/>
          </a:xfrm>
          <a:prstGeom prst="rect">
            <a:avLst/>
          </a:prstGeom>
        </p:spPr>
      </p:pic>
      <p:graphicFrame>
        <p:nvGraphicFramePr>
          <p:cNvPr id="156962748" name=""/>
          <p:cNvGraphicFramePr>
            <a:graphicFrameLocks xmlns:a="http://schemas.openxmlformats.org/drawingml/2006/main"/>
          </p:cNvGraphicFramePr>
          <p:nvPr/>
        </p:nvGraphicFramePr>
        <p:xfrm>
          <a:off x="6814343" y="2171699"/>
          <a:ext cx="2953968" cy="6515099"/>
        </p:xfrm>
        <a:graphic>
          <a:graphicData uri="http://schemas.openxmlformats.org/drawingml/2006/table">
            <a:tbl>
              <a:tblPr firstRow="1" firstCol="1" lastRow="0" lastCol="0" bandRow="1" bandCol="0"/>
              <a:tblGrid>
                <a:gridCol w="3927631"/>
                <a:gridCol w="1228857"/>
              </a:tblGrid>
              <a:tr h="27000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1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Flight Category</a:t>
                      </a:r>
                      <a:endParaRPr sz="2000" b="1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1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Jumlah</a:t>
                      </a:r>
                      <a:endParaRPr sz="2000" b="1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24765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Domestic Arrival (Terminal Kedatangan - Domestik)</a:t>
                      </a:r>
                      <a:endParaRPr sz="2000" b="0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27</a:t>
                      </a:r>
                      <a:endParaRPr sz="2000" b="0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</a:tcPr>
                </a:tc>
              </a:tr>
              <a:tr h="24765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International Arrival (Terminal Kedatangan - Internasional)</a:t>
                      </a:r>
                      <a:endParaRPr sz="2000" b="0"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13</a:t>
                      </a:r>
                      <a:endParaRPr sz="2000" b="0"/>
                    </a:p>
                  </a:txBody>
                  <a:tcPr marL="9524" marR="9524" marT="9524" marB="9524" anchor="ctr"/>
                </a:tc>
              </a:tr>
              <a:tr h="24765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International Departure (Terminal Keberangkatan - Internasional)</a:t>
                      </a:r>
                      <a:endParaRPr sz="2000" b="0"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3</a:t>
                      </a:r>
                      <a:endParaRPr sz="2000" b="0"/>
                    </a:p>
                  </a:txBody>
                  <a:tcPr marL="9524" marR="9524" marT="9524" marB="9524" anchor="ctr"/>
                </a:tc>
              </a:tr>
              <a:tr h="24765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Domestic Departure (Terminal Keberangkatan - Domestik)</a:t>
                      </a:r>
                      <a:endParaRPr sz="2000" b="0"/>
                    </a:p>
                  </a:txBody>
                  <a:tcPr marL="9524" marR="9524" marT="9524" marB="9524" anchor="ctr"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36</a:t>
                      </a:r>
                      <a:endParaRPr sz="2000" b="0"/>
                    </a:p>
                  </a:txBody>
                  <a:tcPr marL="9524" marR="9524" marT="9524" marB="9524" anchor="ctr"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13335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Total Active Scheduled Flights</a:t>
                      </a:r>
                      <a:endParaRPr sz="2000" b="0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79</a:t>
                      </a:r>
                      <a:endParaRPr sz="2000" b="0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00465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Variety, Veracity</a:t>
            </a:r>
            <a:endParaRPr/>
          </a:p>
        </p:txBody>
      </p:sp>
      <p:pic>
        <p:nvPicPr>
          <p:cNvPr id="1201901506" name=""/>
          <p:cNvPicPr>
            <a:picLocks noChangeAspect="1"/>
          </p:cNvPicPr>
          <p:nvPr/>
        </p:nvPicPr>
        <p:blipFill>
          <a:blip r:embed="rId3"/>
          <a:srcRect l="0" t="0" r="0" b="47792"/>
          <a:stretch/>
        </p:blipFill>
        <p:spPr bwMode="auto">
          <a:xfrm flipH="0" flipV="0">
            <a:off x="1142999" y="1744435"/>
            <a:ext cx="2232880" cy="4482650"/>
          </a:xfrm>
          <a:prstGeom prst="rect">
            <a:avLst/>
          </a:prstGeom>
        </p:spPr>
      </p:pic>
      <p:pic>
        <p:nvPicPr>
          <p:cNvPr id="1100614917" name=""/>
          <p:cNvPicPr>
            <a:picLocks noChangeAspect="1"/>
          </p:cNvPicPr>
          <p:nvPr/>
        </p:nvPicPr>
        <p:blipFill>
          <a:blip r:embed="rId4"/>
          <a:srcRect l="0" t="0" r="0" b="49644"/>
          <a:stretch/>
        </p:blipFill>
        <p:spPr bwMode="auto">
          <a:xfrm flipH="0" flipV="0">
            <a:off x="5989453" y="1712608"/>
            <a:ext cx="2358656" cy="5114433"/>
          </a:xfrm>
          <a:prstGeom prst="rect">
            <a:avLst/>
          </a:prstGeom>
        </p:spPr>
      </p:pic>
      <p:pic>
        <p:nvPicPr>
          <p:cNvPr id="1790638122" name=""/>
          <p:cNvPicPr>
            <a:picLocks noChangeAspect="1"/>
          </p:cNvPicPr>
          <p:nvPr/>
        </p:nvPicPr>
        <p:blipFill>
          <a:blip r:embed="rId3"/>
          <a:srcRect l="0" t="51401" r="0" b="0"/>
          <a:stretch/>
        </p:blipFill>
        <p:spPr bwMode="auto">
          <a:xfrm flipH="0" flipV="0">
            <a:off x="3486149" y="1748209"/>
            <a:ext cx="2232880" cy="4172776"/>
          </a:xfrm>
          <a:prstGeom prst="rect">
            <a:avLst/>
          </a:prstGeom>
        </p:spPr>
      </p:pic>
      <p:pic>
        <p:nvPicPr>
          <p:cNvPr id="1836393648" name=""/>
          <p:cNvPicPr>
            <a:picLocks noChangeAspect="1"/>
          </p:cNvPicPr>
          <p:nvPr/>
        </p:nvPicPr>
        <p:blipFill>
          <a:blip r:embed="rId4"/>
          <a:srcRect l="0" t="50345" r="0" b="0"/>
          <a:stretch/>
        </p:blipFill>
        <p:spPr bwMode="auto">
          <a:xfrm flipH="0" flipV="0">
            <a:off x="8560593" y="1712608"/>
            <a:ext cx="2358656" cy="50432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88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Value</a:t>
            </a:r>
            <a:endParaRPr/>
          </a:p>
        </p:txBody>
      </p:sp>
      <p:sp>
        <p:nvSpPr>
          <p:cNvPr id="107794990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b="1"/>
              <a:t>Menyelamatkan nyawa</a:t>
            </a:r>
            <a:r>
              <a:rPr/>
              <a:t> manusia</a:t>
            </a:r>
            <a:endParaRPr/>
          </a:p>
          <a:p>
            <a:pPr>
              <a:defRPr/>
            </a:pPr>
            <a:r>
              <a:rPr/>
              <a:t>Pesawat tidak tabrakan (separasi flight level di udara 1000 ft, ~300 meter)</a:t>
            </a:r>
            <a:endParaRPr/>
          </a:p>
          <a:p>
            <a:pPr>
              <a:defRPr/>
            </a:pPr>
            <a:r>
              <a:rPr/>
              <a:t>Pesawat tidak kecelakaan (di udara, darat, dan laut)</a:t>
            </a:r>
            <a:endParaRPr/>
          </a:p>
          <a:p>
            <a:pPr>
              <a:defRPr/>
            </a:pPr>
            <a:r>
              <a:rPr/>
              <a:t>Rating keterlambatan maskapai penerbangan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5236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4143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/>
              <a:t>Yuk mari diskusi dulu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434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Rubrik UAS (peer review)</a:t>
            </a:r>
            <a:endParaRPr/>
          </a:p>
        </p:txBody>
      </p:sp>
      <p:sp>
        <p:nvSpPr>
          <p:cNvPr id="62985373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800"/>
              <a:t>Masing-masing 10%:</a:t>
            </a:r>
            <a:endParaRPr sz="2800"/>
          </a:p>
          <a:p>
            <a:pPr>
              <a:defRPr/>
            </a:pPr>
            <a:r>
              <a:rPr sz="2800"/>
              <a:t>Volume (Datanya berapa banyak? Bertambah berapa lagi?</a:t>
            </a:r>
            <a:endParaRPr sz="2800"/>
          </a:p>
          <a:p>
            <a:pPr>
              <a:defRPr/>
            </a:pPr>
            <a:r>
              <a:rPr sz="2800"/>
              <a:t>Velocity (Update?)</a:t>
            </a:r>
            <a:endParaRPr sz="2800"/>
          </a:p>
          <a:p>
            <a:pPr>
              <a:defRPr/>
            </a:pPr>
            <a:r>
              <a:rPr sz="2800"/>
              <a:t>Variety (kolom dan jenis data, apakah bertambah?)</a:t>
            </a:r>
            <a:endParaRPr sz="2800"/>
          </a:p>
          <a:p>
            <a:pPr>
              <a:defRPr/>
            </a:pPr>
            <a:r>
              <a:rPr sz="2800"/>
              <a:t>Veracity (Kelengkapan, resolusi)</a:t>
            </a:r>
            <a:endParaRPr sz="2800"/>
          </a:p>
          <a:p>
            <a:pPr>
              <a:defRPr/>
            </a:pPr>
            <a:r>
              <a:rPr sz="2800"/>
              <a:t>Value</a:t>
            </a:r>
            <a:r>
              <a:rPr sz="2800"/>
              <a:t> (</a:t>
            </a:r>
            <a:r>
              <a:rPr sz="2800" i="1"/>
              <a:t>insight</a:t>
            </a:r>
            <a:r>
              <a:rPr sz="2800"/>
              <a:t>) </a:t>
            </a:r>
            <a:endParaRPr sz="2800"/>
          </a:p>
          <a:p>
            <a:pPr>
              <a:defRPr/>
            </a:pPr>
            <a:r>
              <a:rPr sz="2800" b="1"/>
              <a:t>Variability (tren)</a:t>
            </a:r>
            <a:endParaRPr sz="2800" b="1"/>
          </a:p>
          <a:p>
            <a:pPr>
              <a:defRPr/>
            </a:pPr>
            <a:r>
              <a:rPr sz="2800" b="1"/>
              <a:t>Validity (akurasi analisis)</a:t>
            </a:r>
            <a:endParaRPr sz="2800" b="1"/>
          </a:p>
          <a:p>
            <a:pPr>
              <a:defRPr/>
            </a:pPr>
            <a:r>
              <a:rPr sz="2800" b="1"/>
              <a:t>Visualization (tampil ciamik)</a:t>
            </a:r>
            <a:endParaRPr sz="2800"/>
          </a:p>
          <a:p>
            <a:pPr>
              <a:defRPr/>
            </a:pP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91715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Rubrik UAS (dosen)</a:t>
            </a:r>
            <a:endParaRPr/>
          </a:p>
        </p:txBody>
      </p:sp>
      <p:sp>
        <p:nvSpPr>
          <p:cNvPr id="1917684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800"/>
              <a:t>Masing-masing 10%:</a:t>
            </a:r>
            <a:endParaRPr sz="2800"/>
          </a:p>
          <a:p>
            <a:pPr>
              <a:defRPr/>
            </a:pPr>
            <a:r>
              <a:rPr sz="2800" b="0"/>
              <a:t>Github commit history (tiap member berkontribusi, tidak </a:t>
            </a:r>
            <a:r>
              <a:rPr sz="2800" b="0" i="1"/>
              <a:t>semua commit semalam)</a:t>
            </a:r>
            <a:endParaRPr sz="2800" b="0" i="1"/>
          </a:p>
          <a:p>
            <a:pPr>
              <a:defRPr/>
            </a:pPr>
            <a:r>
              <a:rPr sz="2800" b="0" i="0"/>
              <a:t>Potensi atau komitmen diteruskan untuk penelitian lebih lanjut</a:t>
            </a:r>
            <a:endParaRPr sz="2800" i="0"/>
          </a:p>
          <a:p>
            <a:pPr>
              <a:defRPr/>
            </a:pP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9477582" name="Title 1"/>
          <p:cNvSpPr>
            <a:spLocks noGrp="1"/>
          </p:cNvSpPr>
          <p:nvPr>
            <p:ph type="title"/>
          </p:nvPr>
        </p:nvSpPr>
        <p:spPr bwMode="auto">
          <a:xfrm>
            <a:off x="609598" y="328299"/>
            <a:ext cx="10972800" cy="1143000"/>
          </a:xfrm>
        </p:spPr>
        <p:txBody>
          <a:bodyPr/>
          <a:lstStyle/>
          <a:p>
            <a:pPr>
              <a:defRPr/>
            </a:pPr>
            <a:r>
              <a:rPr/>
              <a:t>Yang dikumpulkan:</a:t>
            </a:r>
            <a:endParaRPr/>
          </a:p>
        </p:txBody>
      </p:sp>
      <p:sp>
        <p:nvSpPr>
          <p:cNvPr id="20947146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2800" b="0"/>
              <a:t>URL repository github</a:t>
            </a:r>
            <a:endParaRPr sz="2800" b="0"/>
          </a:p>
          <a:p>
            <a:pPr>
              <a:defRPr/>
            </a:pPr>
            <a:r>
              <a:rPr sz="2800" b="0"/>
              <a:t>Slide presentasi (PDF) disertakan dalam repository</a:t>
            </a:r>
            <a:endParaRPr sz="2800" b="0" i="1"/>
          </a:p>
          <a:p>
            <a:pPr>
              <a:defRPr/>
            </a:pP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17</cp:revision>
  <dcterms:modified xsi:type="dcterms:W3CDTF">2026-05-22T07:06:23Z</dcterms:modified>
</cp:coreProperties>
</file>