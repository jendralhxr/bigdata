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642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522654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1474831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0020701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46169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514991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4335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6858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8698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9459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3036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839962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392081-CE4B-4528-EDD0-8DFEDE1D56C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520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719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363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658B42-A835-3952-57FB-512FF6FFD4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3446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6705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357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07A2C2-74AB-0DD6-C1C2-322FEB8DC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2059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1243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905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E26361-8142-E8D3-D892-7B53DEA80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0608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48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18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AAFE05-CC3D-D57A-7456-11FACDA423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7985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9502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29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DF3F5A-77C4-41C3-E2BD-F1CA4CB46D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50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752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78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C189B6-58B4-5079-69DC-4D1F286971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01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6877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4932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6B357F-A276-4526-5D77-CBB51CE14E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79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20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3153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96323-28B2-6B16-787F-CE901AD5AA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846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761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526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7EE924-7800-1C29-6A5E-207217869D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445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9089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9904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812119-2D05-28CD-4A32-F5A3A6B938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218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4519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660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6774EB-7C67-A957-D2E8-9BEA0BFDD7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290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155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095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ECC7-4B07-28CB-5C76-DFCAEE2933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7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19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55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545BDC-7D65-F0D8-C64B-91B09568DB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816192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6338412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94990131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73837773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34060295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37961041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9867047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984924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5702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420012467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425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943252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343019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86880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7414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30034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67911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400204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10258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5561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1205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274865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494923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065121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08415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742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772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774155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108479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565506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7292501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7793693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6416238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9641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367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1861506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0335755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9145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15062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122104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952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876312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14112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219534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532555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341632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8637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427545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1758842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40171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77072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812734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227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2079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5035032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455638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594306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7702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1931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954292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5385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628638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346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158661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13546439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7478855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1512258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293610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900828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962700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767743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map.opensky-network.org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www.adsbexchange.com/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s://www.flightradar24.com/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juanda-airport.com/id/terminal-kedatangan/index/domestic" TargetMode="External"/><Relationship Id="rId4" Type="http://schemas.openxmlformats.org/officeDocument/2006/relationships/hyperlink" Target="https://juanda-airport.com/id/terminal-kedatangan/index/international" TargetMode="External"/><Relationship Id="rId5" Type="http://schemas.openxmlformats.org/officeDocument/2006/relationships/hyperlink" Target="https://juanda-airport.com/id/terminal-keberangkatan/index/international" TargetMode="External"/><Relationship Id="rId6" Type="http://schemas.openxmlformats.org/officeDocument/2006/relationships/hyperlink" Target="https://juanda-airport.com/id/terminal-keberangkatan/index/domestic" TargetMode="External"/><Relationship Id="rId7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43002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02049" y="2381248"/>
            <a:ext cx="10781226" cy="193834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Data: </a:t>
            </a:r>
            <a:r>
              <a:rPr lang="en-US" sz="4800" b="1"/>
              <a:t>Penerbangan</a:t>
            </a:r>
            <a:endParaRPr sz="4800"/>
          </a:p>
        </p:txBody>
      </p:sp>
      <p:sp>
        <p:nvSpPr>
          <p:cNvPr id="1686235984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093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333" y="370416"/>
            <a:ext cx="9118410" cy="60748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89405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3342" y="1470553"/>
            <a:ext cx="10017003" cy="4874153"/>
          </a:xfrm>
          <a:prstGeom prst="rect">
            <a:avLst/>
          </a:prstGeom>
        </p:spPr>
      </p:pic>
      <p:sp>
        <p:nvSpPr>
          <p:cNvPr id="1870053658" name=""/>
          <p:cNvSpPr txBox="1"/>
          <p:nvPr/>
        </p:nvSpPr>
        <p:spPr bwMode="auto">
          <a:xfrm rot="0" flipH="0" flipV="0">
            <a:off x="493342" y="6344707"/>
            <a:ext cx="356335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u="sng">
                <a:hlinkClick r:id="rId4" tooltip=""/>
              </a:rPr>
              <a:t>https://map.opensky-network.org/</a:t>
            </a:r>
            <a:r>
              <a:rPr sz="1200"/>
              <a:t> </a:t>
            </a:r>
            <a:endParaRPr sz="1200"/>
          </a:p>
        </p:txBody>
      </p:sp>
      <p:sp>
        <p:nvSpPr>
          <p:cNvPr id="1547383840" name="Title 1"/>
          <p:cNvSpPr>
            <a:spLocks noGrp="1"/>
          </p:cNvSpPr>
          <p:nvPr>
            <p:ph type="title"/>
          </p:nvPr>
        </p:nvSpPr>
        <p:spPr bwMode="auto">
          <a:xfrm>
            <a:off x="609598" y="274637"/>
            <a:ext cx="10972800" cy="1143000"/>
          </a:xfrm>
        </p:spPr>
        <p:txBody>
          <a:bodyPr/>
          <a:lstStyle/>
          <a:p>
            <a:pPr>
              <a:defRPr/>
            </a:pPr>
            <a:r>
              <a:rPr/>
              <a:t>Opensky Network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3544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ADS-B Exchange</a:t>
            </a:r>
            <a:endParaRPr/>
          </a:p>
        </p:txBody>
      </p:sp>
      <p:pic>
        <p:nvPicPr>
          <p:cNvPr id="79633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46022" y="1274762"/>
            <a:ext cx="10499954" cy="5255809"/>
          </a:xfrm>
          <a:prstGeom prst="rect">
            <a:avLst/>
          </a:prstGeom>
        </p:spPr>
      </p:pic>
      <p:sp>
        <p:nvSpPr>
          <p:cNvPr id="1920557783" name=""/>
          <p:cNvSpPr txBox="1"/>
          <p:nvPr/>
        </p:nvSpPr>
        <p:spPr bwMode="auto">
          <a:xfrm rot="0" flipH="0" flipV="0">
            <a:off x="951569" y="6530571"/>
            <a:ext cx="347451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u="sng">
                <a:hlinkClick r:id="rId4" tooltip=""/>
              </a:rPr>
              <a:t>https://www.adsbexchange.com/</a:t>
            </a:r>
            <a:r>
              <a:rPr sz="1200"/>
              <a:t> 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3063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Flighradar24</a:t>
            </a:r>
            <a:endParaRPr/>
          </a:p>
        </p:txBody>
      </p:sp>
      <p:pic>
        <p:nvPicPr>
          <p:cNvPr id="518263436" name=""/>
          <p:cNvPicPr>
            <a:picLocks noChangeAspect="1"/>
          </p:cNvPicPr>
          <p:nvPr/>
        </p:nvPicPr>
        <p:blipFill>
          <a:blip r:embed="rId3"/>
          <a:srcRect l="0" t="11610" r="7343" b="0"/>
          <a:stretch/>
        </p:blipFill>
        <p:spPr bwMode="auto">
          <a:xfrm flipH="0" flipV="0">
            <a:off x="878415" y="1335681"/>
            <a:ext cx="9249772" cy="5130586"/>
          </a:xfrm>
          <a:prstGeom prst="rect">
            <a:avLst/>
          </a:prstGeom>
        </p:spPr>
      </p:pic>
      <p:sp>
        <p:nvSpPr>
          <p:cNvPr id="161043701" name=""/>
          <p:cNvSpPr txBox="1"/>
          <p:nvPr/>
        </p:nvSpPr>
        <p:spPr bwMode="auto">
          <a:xfrm rot="0" flipH="0" flipV="0">
            <a:off x="878415" y="6586577"/>
            <a:ext cx="32581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u="sng">
                <a:hlinkClick r:id="rId4" tooltip=""/>
              </a:rPr>
              <a:t>https://www.flightradar24.com/</a:t>
            </a:r>
            <a:r>
              <a:rPr sz="1200"/>
              <a:t> 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673774" name=""/>
          <p:cNvSpPr txBox="1"/>
          <p:nvPr/>
        </p:nvSpPr>
        <p:spPr bwMode="auto">
          <a:xfrm rot="0" flipH="0" flipV="0">
            <a:off x="9359529" y="166687"/>
            <a:ext cx="2577938" cy="5794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200"/>
              <a:t>Sumber Data</a:t>
            </a:r>
            <a:endParaRPr sz="3200"/>
          </a:p>
        </p:txBody>
      </p:sp>
      <p:pic>
        <p:nvPicPr>
          <p:cNvPr id="18868934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72805" y="2867024"/>
            <a:ext cx="2143125" cy="2143125"/>
          </a:xfrm>
          <a:prstGeom prst="rect">
            <a:avLst/>
          </a:prstGeom>
        </p:spPr>
      </p:pic>
      <p:pic>
        <p:nvPicPr>
          <p:cNvPr id="49507304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-71437" y="2012155"/>
            <a:ext cx="2413576" cy="1416843"/>
          </a:xfrm>
          <a:prstGeom prst="rect">
            <a:avLst/>
          </a:prstGeom>
        </p:spPr>
      </p:pic>
      <p:sp>
        <p:nvSpPr>
          <p:cNvPr id="1522696822" name=""/>
          <p:cNvSpPr txBox="1"/>
          <p:nvPr/>
        </p:nvSpPr>
        <p:spPr bwMode="auto">
          <a:xfrm rot="0" flipH="0" flipV="0">
            <a:off x="3415929" y="1586102"/>
            <a:ext cx="8665340" cy="118908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349965" indent="-349965">
              <a:buFont typeface="Arial"/>
              <a:buChar char="•"/>
              <a:defRPr/>
            </a:pPr>
            <a:r>
              <a:rPr sz="2400"/>
              <a:t>Raspberry pi, SDR, antena pada 1090 MHz (crowdsourcing)</a:t>
            </a: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/>
              <a:t>FLARM</a:t>
            </a: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sz="2400"/>
              <a:t>Frekuensi ADS-B</a:t>
            </a:r>
            <a:endParaRPr sz="2400"/>
          </a:p>
        </p:txBody>
      </p:sp>
      <p:pic>
        <p:nvPicPr>
          <p:cNvPr id="5325061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53009" y="5563100"/>
            <a:ext cx="1620468" cy="1075991"/>
          </a:xfrm>
          <a:prstGeom prst="rect">
            <a:avLst/>
          </a:prstGeom>
        </p:spPr>
      </p:pic>
      <p:pic>
        <p:nvPicPr>
          <p:cNvPr id="180571107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2153868" y="5469651"/>
            <a:ext cx="2156249" cy="1262888"/>
          </a:xfrm>
          <a:prstGeom prst="rect">
            <a:avLst/>
          </a:prstGeom>
        </p:spPr>
      </p:pic>
      <p:pic>
        <p:nvPicPr>
          <p:cNvPr id="2046952347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4896654" y="2921618"/>
            <a:ext cx="5361778" cy="276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92661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2012" y="684861"/>
            <a:ext cx="9001799" cy="5488276"/>
          </a:xfrm>
          <a:prstGeom prst="rect">
            <a:avLst/>
          </a:prstGeom>
        </p:spPr>
      </p:pic>
      <p:sp>
        <p:nvSpPr>
          <p:cNvPr id="9225358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Data Historis</a:t>
            </a:r>
            <a:endParaRPr/>
          </a:p>
        </p:txBody>
      </p:sp>
      <p:sp>
        <p:nvSpPr>
          <p:cNvPr id="1911961276" name=""/>
          <p:cNvSpPr txBox="1"/>
          <p:nvPr/>
        </p:nvSpPr>
        <p:spPr bwMode="auto">
          <a:xfrm rot="0" flipH="0" flipV="0">
            <a:off x="191044" y="6389370"/>
            <a:ext cx="3499349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https://opensky-network.org/data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2884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309104"/>
            <a:ext cx="9538124" cy="5882145"/>
          </a:xfrm>
          <a:prstGeom prst="rect">
            <a:avLst/>
          </a:prstGeom>
        </p:spPr>
      </p:pic>
      <p:sp>
        <p:nvSpPr>
          <p:cNvPr id="2485111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Data Live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666965" name="Title 1"/>
          <p:cNvSpPr>
            <a:spLocks noGrp="1"/>
          </p:cNvSpPr>
          <p:nvPr>
            <p:ph type="title"/>
          </p:nvPr>
        </p:nvSpPr>
        <p:spPr bwMode="auto">
          <a:xfrm>
            <a:off x="752473" y="167481"/>
            <a:ext cx="10972800" cy="1143000"/>
          </a:xfrm>
        </p:spPr>
        <p:txBody>
          <a:bodyPr/>
          <a:lstStyle/>
          <a:p>
            <a:pPr>
              <a:defRPr/>
            </a:pPr>
            <a:r>
              <a:rPr/>
              <a:t>Volume, Velocity</a:t>
            </a:r>
            <a:endParaRPr/>
          </a:p>
        </p:txBody>
      </p:sp>
      <p:pic>
        <p:nvPicPr>
          <p:cNvPr id="1717301374" name=""/>
          <p:cNvPicPr>
            <a:picLocks noChangeAspect="1"/>
          </p:cNvPicPr>
          <p:nvPr/>
        </p:nvPicPr>
        <p:blipFill>
          <a:blip r:embed="rId3"/>
          <a:srcRect l="17700" t="0" r="0" b="0"/>
          <a:stretch/>
        </p:blipFill>
        <p:spPr bwMode="auto">
          <a:xfrm flipH="0" flipV="0">
            <a:off x="132187" y="1197331"/>
            <a:ext cx="9155905" cy="5446355"/>
          </a:xfrm>
          <a:prstGeom prst="rect">
            <a:avLst/>
          </a:prstGeom>
        </p:spPr>
      </p:pic>
      <p:sp>
        <p:nvSpPr>
          <p:cNvPr id="1223682576" name=""/>
          <p:cNvSpPr txBox="1"/>
          <p:nvPr/>
        </p:nvSpPr>
        <p:spPr bwMode="auto">
          <a:xfrm rot="0" flipH="0" flipV="0">
            <a:off x="9430968" y="2000248"/>
            <a:ext cx="2210936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&gt;5000an pesawat tiap waktu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Update tiap 2 detik</a:t>
            </a:r>
            <a:endParaRPr sz="2400"/>
          </a:p>
        </p:txBody>
      </p:sp>
      <p:sp>
        <p:nvSpPr>
          <p:cNvPr id="1828014089" name=""/>
          <p:cNvSpPr/>
          <p:nvPr/>
        </p:nvSpPr>
        <p:spPr bwMode="auto">
          <a:xfrm rot="0" flipH="0" flipV="0">
            <a:off x="6478218" y="3024187"/>
            <a:ext cx="964406" cy="440530"/>
          </a:xfrm>
          <a:prstGeom prst="rect">
            <a:avLst/>
          </a:prstGeom>
          <a:solidFill>
            <a:srgbClr val="FFFF00">
              <a:alpha val="18000"/>
            </a:srgbClr>
          </a:solidFill>
          <a:ln w="25400" cap="flat" cmpd="sng" algn="ctr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451194" name=""/>
          <p:cNvSpPr/>
          <p:nvPr/>
        </p:nvSpPr>
        <p:spPr bwMode="auto">
          <a:xfrm>
            <a:off x="102718" y="5896927"/>
            <a:ext cx="4730231" cy="8233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3" tooltip=""/>
              </a:rPr>
              <a:t>https://juanda-airport.com/id/terminal-kedatangan/index/domestic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4" tooltip=""/>
              </a:rPr>
              <a:t>https://juanda-airport.com/id/terminal-kedatangan/index/international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5" tooltip=""/>
              </a:rPr>
              <a:t>https://juanda-airport.com/id/terminal-keberangkatan/index/international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6" tooltip=""/>
              </a:rPr>
              <a:t>https://juanda-airport.com/id/terminal-keberangkatan/index/domestic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/>
          </a:p>
        </p:txBody>
      </p:sp>
      <p:pic>
        <p:nvPicPr>
          <p:cNvPr id="18394941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102718" y="142875"/>
            <a:ext cx="6639948" cy="5040051"/>
          </a:xfrm>
          <a:prstGeom prst="rect">
            <a:avLst/>
          </a:prstGeom>
        </p:spPr>
      </p:pic>
      <p:graphicFrame>
        <p:nvGraphicFramePr>
          <p:cNvPr id="580397129" name=""/>
          <p:cNvGraphicFramePr>
            <a:graphicFrameLocks xmlns:a="http://schemas.openxmlformats.org/drawingml/2006/main"/>
          </p:cNvGraphicFramePr>
          <p:nvPr/>
        </p:nvGraphicFramePr>
        <p:xfrm>
          <a:off x="6814343" y="2171699"/>
          <a:ext cx="2953968" cy="6515099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3927631"/>
                <a:gridCol w="1228857"/>
              </a:tblGrid>
              <a:tr h="270000"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1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Flight Category</a:t>
                      </a:r>
                      <a:endParaRPr sz="2000" b="1"/>
                    </a:p>
                  </a:txBody>
                  <a:tcPr marL="9524" marR="9524" marT="9524" marB="9524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1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Jumlah</a:t>
                      </a:r>
                      <a:endParaRPr sz="2000" b="1"/>
                    </a:p>
                  </a:txBody>
                  <a:tcPr marL="9524" marR="9524" marT="9524" marB="9524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247650"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Domestic Arrival (Terminal Kedatangan - Domestik)</a:t>
                      </a:r>
                      <a:endParaRPr sz="2000" b="0"/>
                    </a:p>
                  </a:txBody>
                  <a:tcPr marL="9524" marR="9524" marT="9524" marB="9524" anchor="ctr">
                    <a:lnT w="12699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27</a:t>
                      </a:r>
                      <a:endParaRPr sz="2000" b="0"/>
                    </a:p>
                  </a:txBody>
                  <a:tcPr marL="9524" marR="9524" marT="9524" marB="9524" anchor="ctr">
                    <a:lnT w="12699" algn="ctr">
                      <a:solidFill>
                        <a:srgbClr val="000000"/>
                      </a:solidFill>
                    </a:lnT>
                  </a:tcPr>
                </a:tc>
              </a:tr>
              <a:tr h="247650"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International Arrival (Terminal Kedatangan - Internasional)</a:t>
                      </a:r>
                      <a:endParaRPr sz="2000" b="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13</a:t>
                      </a:r>
                      <a:endParaRPr sz="2000" b="0"/>
                    </a:p>
                  </a:txBody>
                  <a:tcPr marL="9524" marR="9524" marT="9524" marB="9524" anchor="ctr"/>
                </a:tc>
              </a:tr>
              <a:tr h="247650"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International Departure (Terminal Keberangkatan - Internasional)</a:t>
                      </a:r>
                      <a:endParaRPr sz="2000" b="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3</a:t>
                      </a:r>
                      <a:endParaRPr sz="2000" b="0"/>
                    </a:p>
                  </a:txBody>
                  <a:tcPr marL="9524" marR="9524" marT="9524" marB="9524" anchor="ctr"/>
                </a:tc>
              </a:tr>
              <a:tr h="247650"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Domestic Departure (Terminal Keberangkatan - Domestik)</a:t>
                      </a:r>
                      <a:endParaRPr sz="2000" b="0"/>
                    </a:p>
                  </a:txBody>
                  <a:tcPr marL="9524" marR="9524" marT="9524" marB="9524" anchor="ctr"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36</a:t>
                      </a:r>
                      <a:endParaRPr sz="2000" b="0"/>
                    </a:p>
                  </a:txBody>
                  <a:tcPr marL="9524" marR="9524" marT="9524" marB="9524" anchor="ctr"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33350"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Total Active Scheduled Flights</a:t>
                      </a:r>
                      <a:endParaRPr sz="2000" b="0"/>
                    </a:p>
                  </a:txBody>
                  <a:tcPr marL="9524" marR="9524" marT="9524" marB="9524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79</a:t>
                      </a:r>
                      <a:endParaRPr sz="2000" b="0"/>
                    </a:p>
                  </a:txBody>
                  <a:tcPr marL="9524" marR="9524" marT="9524" marB="9524"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3890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Variety, Veracity</a:t>
            </a:r>
            <a:endParaRPr/>
          </a:p>
        </p:txBody>
      </p:sp>
      <p:pic>
        <p:nvPicPr>
          <p:cNvPr id="127551612" name=""/>
          <p:cNvPicPr>
            <a:picLocks noChangeAspect="1"/>
          </p:cNvPicPr>
          <p:nvPr/>
        </p:nvPicPr>
        <p:blipFill>
          <a:blip r:embed="rId3"/>
          <a:srcRect l="0" t="0" r="0" b="47792"/>
          <a:stretch/>
        </p:blipFill>
        <p:spPr bwMode="auto">
          <a:xfrm flipH="0" flipV="0">
            <a:off x="1142999" y="1744435"/>
            <a:ext cx="2232880" cy="4482650"/>
          </a:xfrm>
          <a:prstGeom prst="rect">
            <a:avLst/>
          </a:prstGeom>
        </p:spPr>
      </p:pic>
      <p:pic>
        <p:nvPicPr>
          <p:cNvPr id="214109048" name=""/>
          <p:cNvPicPr>
            <a:picLocks noChangeAspect="1"/>
          </p:cNvPicPr>
          <p:nvPr/>
        </p:nvPicPr>
        <p:blipFill>
          <a:blip r:embed="rId4"/>
          <a:srcRect l="0" t="0" r="0" b="49644"/>
          <a:stretch/>
        </p:blipFill>
        <p:spPr bwMode="auto">
          <a:xfrm flipH="0" flipV="0">
            <a:off x="5989453" y="1712608"/>
            <a:ext cx="2358656" cy="5114433"/>
          </a:xfrm>
          <a:prstGeom prst="rect">
            <a:avLst/>
          </a:prstGeom>
        </p:spPr>
      </p:pic>
      <p:pic>
        <p:nvPicPr>
          <p:cNvPr id="162626701" name=""/>
          <p:cNvPicPr>
            <a:picLocks noChangeAspect="1"/>
          </p:cNvPicPr>
          <p:nvPr/>
        </p:nvPicPr>
        <p:blipFill>
          <a:blip r:embed="rId3"/>
          <a:srcRect l="0" t="51401" r="0" b="0"/>
          <a:stretch/>
        </p:blipFill>
        <p:spPr bwMode="auto">
          <a:xfrm flipH="0" flipV="0">
            <a:off x="3486149" y="1748209"/>
            <a:ext cx="2232880" cy="4172776"/>
          </a:xfrm>
          <a:prstGeom prst="rect">
            <a:avLst/>
          </a:prstGeom>
        </p:spPr>
      </p:pic>
      <p:pic>
        <p:nvPicPr>
          <p:cNvPr id="748633002" name=""/>
          <p:cNvPicPr>
            <a:picLocks noChangeAspect="1"/>
          </p:cNvPicPr>
          <p:nvPr/>
        </p:nvPicPr>
        <p:blipFill>
          <a:blip r:embed="rId4"/>
          <a:srcRect l="0" t="50345" r="0" b="0"/>
          <a:stretch/>
        </p:blipFill>
        <p:spPr bwMode="auto">
          <a:xfrm flipH="0" flipV="0">
            <a:off x="8560593" y="1712608"/>
            <a:ext cx="2358656" cy="5043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3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Value</a:t>
            </a:r>
            <a:endParaRPr/>
          </a:p>
        </p:txBody>
      </p:sp>
      <p:sp>
        <p:nvSpPr>
          <p:cNvPr id="7280438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b="1"/>
              <a:t>Menyelamatkan nyawa</a:t>
            </a:r>
            <a:r>
              <a:rPr/>
              <a:t> manusia</a:t>
            </a:r>
            <a:endParaRPr/>
          </a:p>
          <a:p>
            <a:pPr>
              <a:defRPr/>
            </a:pPr>
            <a:r>
              <a:rPr/>
              <a:t>Pesawat tidak tabrakan (separasi flight level di udara 1000 ft, ~300 meter)</a:t>
            </a:r>
            <a:endParaRPr/>
          </a:p>
          <a:p>
            <a:pPr>
              <a:defRPr/>
            </a:pPr>
            <a:r>
              <a:rPr/>
              <a:t>Pesawat tidak kecelakaan (di udara, darat, dan laut)</a:t>
            </a:r>
            <a:endParaRPr/>
          </a:p>
          <a:p>
            <a:pPr>
              <a:defRPr/>
            </a:pPr>
            <a:r>
              <a:rPr/>
              <a:t>Rating keterlambatan maskapai penerbangan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641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5622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Yuk mari diskusi dulu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7657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Rubrik UAS (peer review)</a:t>
            </a:r>
            <a:endParaRPr/>
          </a:p>
        </p:txBody>
      </p:sp>
      <p:sp>
        <p:nvSpPr>
          <p:cNvPr id="16422358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/>
              <a:t>Masing-masing 10%:</a:t>
            </a:r>
            <a:endParaRPr sz="2800"/>
          </a:p>
          <a:p>
            <a:pPr>
              <a:defRPr/>
            </a:pPr>
            <a:r>
              <a:rPr sz="2800"/>
              <a:t>Volume (Datanya berapa banyak? Bertambah berapa lagi?</a:t>
            </a:r>
            <a:endParaRPr sz="2800"/>
          </a:p>
          <a:p>
            <a:pPr>
              <a:defRPr/>
            </a:pPr>
            <a:r>
              <a:rPr sz="2800"/>
              <a:t>Velocity (Update?)</a:t>
            </a:r>
            <a:endParaRPr sz="2800"/>
          </a:p>
          <a:p>
            <a:pPr>
              <a:defRPr/>
            </a:pPr>
            <a:r>
              <a:rPr sz="2800"/>
              <a:t>Variety (kolom dan jenis data, apakah bertambah?)</a:t>
            </a:r>
            <a:endParaRPr sz="2800"/>
          </a:p>
          <a:p>
            <a:pPr>
              <a:defRPr/>
            </a:pPr>
            <a:r>
              <a:rPr sz="2800"/>
              <a:t>Veracity (Kelengkapan, resolusi)</a:t>
            </a:r>
            <a:endParaRPr sz="2800"/>
          </a:p>
          <a:p>
            <a:pPr>
              <a:defRPr/>
            </a:pPr>
            <a:r>
              <a:rPr sz="2800"/>
              <a:t>Value</a:t>
            </a:r>
            <a:r>
              <a:rPr sz="2800"/>
              <a:t> (</a:t>
            </a:r>
            <a:r>
              <a:rPr sz="2800" i="1"/>
              <a:t>insight</a:t>
            </a:r>
            <a:r>
              <a:rPr sz="2800"/>
              <a:t>) </a:t>
            </a:r>
            <a:endParaRPr sz="2800"/>
          </a:p>
          <a:p>
            <a:pPr>
              <a:defRPr/>
            </a:pPr>
            <a:r>
              <a:rPr sz="2800" b="1"/>
              <a:t>Variability (tren)</a:t>
            </a:r>
            <a:endParaRPr sz="2800" b="1"/>
          </a:p>
          <a:p>
            <a:pPr>
              <a:defRPr/>
            </a:pPr>
            <a:r>
              <a:rPr sz="2800" b="1"/>
              <a:t>Validity (akurasi analisis)</a:t>
            </a:r>
            <a:endParaRPr sz="2800" b="1"/>
          </a:p>
          <a:p>
            <a:pPr>
              <a:defRPr/>
            </a:pPr>
            <a:r>
              <a:rPr sz="2800" b="1"/>
              <a:t>Visualization (tampil ciamik)</a:t>
            </a:r>
            <a:endParaRPr sz="2800"/>
          </a:p>
          <a:p>
            <a:pPr>
              <a:defRPr/>
            </a:pP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5978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Rubrik UAS (dosen)</a:t>
            </a:r>
            <a:endParaRPr/>
          </a:p>
        </p:txBody>
      </p:sp>
      <p:sp>
        <p:nvSpPr>
          <p:cNvPr id="17731931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/>
              <a:t>Masing-masing 10%:</a:t>
            </a:r>
            <a:endParaRPr sz="2800"/>
          </a:p>
          <a:p>
            <a:pPr>
              <a:defRPr/>
            </a:pPr>
            <a:r>
              <a:rPr sz="2800" b="0"/>
              <a:t>Github commit history (tiap member berkontribusi, tidak </a:t>
            </a:r>
            <a:r>
              <a:rPr sz="2800" b="0" i="1"/>
              <a:t>semua commit semalam)</a:t>
            </a:r>
            <a:endParaRPr sz="2800" b="0" i="1"/>
          </a:p>
          <a:p>
            <a:pPr>
              <a:defRPr/>
            </a:pPr>
            <a:r>
              <a:rPr sz="2800" b="0" i="0"/>
              <a:t>Potensi atau komitmen diteruskan untuk penelitian lebih lanjut</a:t>
            </a:r>
            <a:endParaRPr sz="2800" i="0"/>
          </a:p>
          <a:p>
            <a:pPr>
              <a:defRPr/>
            </a:pP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modified xsi:type="dcterms:W3CDTF">2026-05-22T06:02:52Z</dcterms:modified>
</cp:coreProperties>
</file>