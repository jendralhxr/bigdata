
<file path=[Content_Types].xml><?xml version="1.0" encoding="utf-8"?>
<Types xmlns="http://schemas.openxmlformats.org/package/2006/content-types">
  <Default Extension="jpg" ContentType="image/jpeg"/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presentation.xml" ContentType="application/vnd.openxmlformats-officedocument.presentationml.presentation.main+xml"/>
  <Override PartName="/ppt/slideLayouts/slideLayout5.xml" ContentType="application/vnd.openxmlformats-officedocument.presentationml.slideLayout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6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308626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84991989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376925480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475004436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37156575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469685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42284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25748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96648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581890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64917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247819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392081-CE4B-4528-EDD0-8DFEDE1D56C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108973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4432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69332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658B42-A835-3952-57FB-512FF6FFD45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949499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91328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43391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07A2C2-74AB-0DD6-C1C2-322FEB8DC08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918202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661208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14099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8E26361-8142-E8D3-D892-7B53DEA801E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26723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08187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4298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AAFE05-CC3D-D57A-7456-11FACDA4235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61029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203486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14519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DF3F5A-77C4-41C3-E2BD-F1CA4CB46D2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65226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444154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84669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2C189B6-58B4-5079-69DC-4D1F286971D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223298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795830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82593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6B357F-A276-4526-5D77-CBB51CE14ED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957443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505818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49077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A96323-28B2-6B16-787F-CE901AD5AAA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380854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495721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153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C7EE924-7800-1C29-6A5E-207217869D3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154796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454048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0708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7812119-2D05-28CD-4A32-F5A3A6B938F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39303" name="Shape 1059"/>
          <p:cNvSpPr>
            <a:spLocks noChangeArrowheads="1" noGrp="1"/>
          </p:cNvSpPr>
          <p:nvPr userDrawn="1"/>
        </p:nvSpPr>
        <p:spPr bwMode="auto">
          <a:xfrm>
            <a:off x="2396066" y="2291401"/>
            <a:ext cx="5452533" cy="4165115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2112" y="3116"/>
                </a:moveTo>
                <a:lnTo>
                  <a:pt x="22112" y="3116"/>
                </a:lnTo>
                <a:cubicBezTo>
                  <a:pt x="22112" y="3116"/>
                  <a:pt x="27356" y="0"/>
                  <a:pt x="30300" y="4263"/>
                </a:cubicBezTo>
                <a:lnTo>
                  <a:pt x="30300" y="4263"/>
                </a:lnTo>
                <a:cubicBezTo>
                  <a:pt x="33277" y="8577"/>
                  <a:pt x="36666" y="13779"/>
                  <a:pt x="39369" y="17410"/>
                </a:cubicBezTo>
                <a:lnTo>
                  <a:pt x="39369" y="17410"/>
                </a:lnTo>
                <a:cubicBezTo>
                  <a:pt x="41761" y="20624"/>
                  <a:pt x="43200" y="22708"/>
                  <a:pt x="40979" y="26940"/>
                </a:cubicBezTo>
                <a:lnTo>
                  <a:pt x="40979" y="26940"/>
                </a:lnTo>
                <a:cubicBezTo>
                  <a:pt x="39655" y="29461"/>
                  <a:pt x="35076" y="35072"/>
                  <a:pt x="32639" y="38623"/>
                </a:cubicBezTo>
                <a:lnTo>
                  <a:pt x="32639" y="38623"/>
                </a:lnTo>
                <a:cubicBezTo>
                  <a:pt x="30200" y="42175"/>
                  <a:pt x="26202" y="43200"/>
                  <a:pt x="23268" y="42185"/>
                </a:cubicBezTo>
                <a:lnTo>
                  <a:pt x="23268" y="42185"/>
                </a:lnTo>
                <a:cubicBezTo>
                  <a:pt x="20331" y="41168"/>
                  <a:pt x="11584" y="38623"/>
                  <a:pt x="6213" y="36974"/>
                </a:cubicBezTo>
                <a:lnTo>
                  <a:pt x="6213" y="36974"/>
                </a:lnTo>
                <a:cubicBezTo>
                  <a:pt x="1431" y="35502"/>
                  <a:pt x="0" y="32900"/>
                  <a:pt x="214" y="31157"/>
                </a:cubicBezTo>
                <a:lnTo>
                  <a:pt x="214" y="31157"/>
                </a:lnTo>
                <a:cubicBezTo>
                  <a:pt x="760" y="26703"/>
                  <a:pt x="1113" y="19920"/>
                  <a:pt x="1214" y="16042"/>
                </a:cubicBezTo>
                <a:lnTo>
                  <a:pt x="1214" y="16042"/>
                </a:lnTo>
                <a:cubicBezTo>
                  <a:pt x="1303" y="12626"/>
                  <a:pt x="4203" y="11313"/>
                  <a:pt x="6907" y="9989"/>
                </a:cubicBezTo>
                <a:lnTo>
                  <a:pt x="6907" y="9989"/>
                </a:lnTo>
                <a:cubicBezTo>
                  <a:pt x="9245" y="8843"/>
                  <a:pt x="19774" y="4261"/>
                  <a:pt x="22112" y="3116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77376504" name="Shape 1060"/>
          <p:cNvSpPr>
            <a:spLocks noChangeArrowheads="1" noGrp="1"/>
          </p:cNvSpPr>
          <p:nvPr userDrawn="1"/>
        </p:nvSpPr>
        <p:spPr bwMode="auto">
          <a:xfrm>
            <a:off x="1309514" y="1839834"/>
            <a:ext cx="4011787" cy="1314324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0162" y="13104"/>
                </a:moveTo>
                <a:lnTo>
                  <a:pt x="40162" y="13104"/>
                </a:lnTo>
                <a:cubicBezTo>
                  <a:pt x="36799" y="16736"/>
                  <a:pt x="26204" y="28154"/>
                  <a:pt x="22676" y="31251"/>
                </a:cubicBezTo>
                <a:lnTo>
                  <a:pt x="22676" y="31251"/>
                </a:lnTo>
                <a:cubicBezTo>
                  <a:pt x="18513" y="34899"/>
                  <a:pt x="15093" y="37527"/>
                  <a:pt x="13136" y="38511"/>
                </a:cubicBezTo>
                <a:lnTo>
                  <a:pt x="13136" y="38511"/>
                </a:lnTo>
                <a:cubicBezTo>
                  <a:pt x="10861" y="39650"/>
                  <a:pt x="0" y="43200"/>
                  <a:pt x="422" y="38511"/>
                </a:cubicBezTo>
                <a:lnTo>
                  <a:pt x="422" y="38511"/>
                </a:lnTo>
                <a:cubicBezTo>
                  <a:pt x="750" y="34836"/>
                  <a:pt x="12785" y="17028"/>
                  <a:pt x="15584" y="14358"/>
                </a:cubicBezTo>
                <a:lnTo>
                  <a:pt x="15584" y="14358"/>
                </a:lnTo>
                <a:cubicBezTo>
                  <a:pt x="18382" y="11693"/>
                  <a:pt x="34508" y="0"/>
                  <a:pt x="36286" y="2133"/>
                </a:cubicBezTo>
                <a:lnTo>
                  <a:pt x="36286" y="2133"/>
                </a:lnTo>
                <a:cubicBezTo>
                  <a:pt x="38064" y="4272"/>
                  <a:pt x="43200" y="9825"/>
                  <a:pt x="40162" y="1310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670022903" name="Shape 1061"/>
          <p:cNvSpPr>
            <a:spLocks noChangeArrowheads="1" noGrp="1"/>
          </p:cNvSpPr>
          <p:nvPr userDrawn="1"/>
        </p:nvSpPr>
        <p:spPr bwMode="auto">
          <a:xfrm>
            <a:off x="6567030" y="4629133"/>
            <a:ext cx="5395523" cy="2231707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42680" y="32337"/>
                  <a:pt x="42264" y="24810"/>
                  <a:pt x="41982" y="22533"/>
                </a:cubicBezTo>
                <a:lnTo>
                  <a:pt x="41982" y="22533"/>
                </a:lnTo>
                <a:cubicBezTo>
                  <a:pt x="41353" y="17445"/>
                  <a:pt x="31020" y="10782"/>
                  <a:pt x="25434" y="7567"/>
                </a:cubicBezTo>
                <a:lnTo>
                  <a:pt x="25434" y="7567"/>
                </a:lnTo>
                <a:cubicBezTo>
                  <a:pt x="20461" y="4707"/>
                  <a:pt x="15752" y="0"/>
                  <a:pt x="10688" y="12771"/>
                </a:cubicBezTo>
                <a:lnTo>
                  <a:pt x="10688" y="12771"/>
                </a:lnTo>
                <a:cubicBezTo>
                  <a:pt x="5409" y="26085"/>
                  <a:pt x="2329" y="33891"/>
                  <a:pt x="451" y="39632"/>
                </a:cubicBezTo>
                <a:lnTo>
                  <a:pt x="451" y="39632"/>
                </a:lnTo>
                <a:cubicBezTo>
                  <a:pt x="180" y="40459"/>
                  <a:pt x="44" y="41820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333229667" name="Shape 1062"/>
          <p:cNvSpPr>
            <a:spLocks noChangeArrowheads="1" noGrp="1"/>
          </p:cNvSpPr>
          <p:nvPr userDrawn="1"/>
        </p:nvSpPr>
        <p:spPr bwMode="auto">
          <a:xfrm>
            <a:off x="389187" y="6100774"/>
            <a:ext cx="4968521" cy="759999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37750" y="34083"/>
                  <a:pt x="28707" y="20178"/>
                  <a:pt x="28707" y="20178"/>
                </a:cubicBezTo>
                <a:lnTo>
                  <a:pt x="28707" y="20178"/>
                </a:lnTo>
                <a:cubicBezTo>
                  <a:pt x="23196" y="11772"/>
                  <a:pt x="17935" y="0"/>
                  <a:pt x="14588" y="1341"/>
                </a:cubicBezTo>
                <a:lnTo>
                  <a:pt x="14588" y="1341"/>
                </a:lnTo>
                <a:cubicBezTo>
                  <a:pt x="11240" y="2673"/>
                  <a:pt x="6350" y="22671"/>
                  <a:pt x="1602" y="37718"/>
                </a:cubicBezTo>
                <a:lnTo>
                  <a:pt x="1602" y="37718"/>
                </a:lnTo>
                <a:cubicBezTo>
                  <a:pt x="1072" y="39393"/>
                  <a:pt x="536" y="41175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493126333" name="Shape 1063"/>
          <p:cNvSpPr>
            <a:spLocks noChangeArrowheads="1" noGrp="1"/>
          </p:cNvSpPr>
          <p:nvPr userDrawn="1"/>
        </p:nvSpPr>
        <p:spPr bwMode="auto">
          <a:xfrm>
            <a:off x="0" y="3254701"/>
            <a:ext cx="2099733" cy="3343682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43200"/>
                </a:moveTo>
                <a:lnTo>
                  <a:pt x="0" y="43200"/>
                </a:lnTo>
                <a:cubicBezTo>
                  <a:pt x="10450" y="39319"/>
                  <a:pt x="26476" y="34991"/>
                  <a:pt x="31760" y="32779"/>
                </a:cubicBezTo>
                <a:lnTo>
                  <a:pt x="31760" y="32779"/>
                </a:lnTo>
                <a:cubicBezTo>
                  <a:pt x="38554" y="29929"/>
                  <a:pt x="35982" y="23868"/>
                  <a:pt x="39587" y="11934"/>
                </a:cubicBezTo>
                <a:lnTo>
                  <a:pt x="39587" y="11934"/>
                </a:lnTo>
                <a:cubicBezTo>
                  <a:pt x="43199" y="0"/>
                  <a:pt x="33409" y="2565"/>
                  <a:pt x="25082" y="2041"/>
                </a:cubicBezTo>
                <a:lnTo>
                  <a:pt x="25082" y="2041"/>
                </a:lnTo>
                <a:cubicBezTo>
                  <a:pt x="14497" y="1374"/>
                  <a:pt x="7053" y="4621"/>
                  <a:pt x="0" y="7243"/>
                </a:cubicBezTo>
                <a:lnTo>
                  <a:pt x="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302729829" name="Subtitle 2"/>
          <p:cNvSpPr>
            <a:spLocks noGrp="1"/>
          </p:cNvSpPr>
          <p:nvPr>
            <p:ph type="subTitle" idx="1"/>
          </p:nvPr>
        </p:nvSpPr>
        <p:spPr bwMode="auto">
          <a:xfrm>
            <a:off x="4655839" y="2708919"/>
            <a:ext cx="6720745" cy="720079"/>
          </a:xfrm>
        </p:spPr>
        <p:txBody>
          <a:bodyPr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4861741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61278074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87907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  <p:sp>
        <p:nvSpPr>
          <p:cNvPr id="296399636" name="Title 6"/>
          <p:cNvSpPr>
            <a:spLocks noGrp="1"/>
          </p:cNvSpPr>
          <p:nvPr>
            <p:ph type="title"/>
          </p:nvPr>
        </p:nvSpPr>
        <p:spPr bwMode="auto">
          <a:xfrm>
            <a:off x="4595833" y="1808820"/>
            <a:ext cx="6720745" cy="720079"/>
          </a:xfrm>
        </p:spPr>
        <p:txBody>
          <a:bodyPr/>
          <a:lstStyle>
            <a:lvl1pPr algn="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92710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82518077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80160601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94755511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589437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048120" name="Title 1"/>
          <p:cNvSpPr>
            <a:spLocks noGrp="1"/>
          </p:cNvSpPr>
          <p:nvPr>
            <p:ph type="title"/>
          </p:nvPr>
        </p:nvSpPr>
        <p:spPr bwMode="auto">
          <a:xfrm>
            <a:off x="963083" y="4406901"/>
            <a:ext cx="10363199" cy="1362074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88505153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63083" y="2906713"/>
            <a:ext cx="10363199" cy="1500186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94988168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54603527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15837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78913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540140109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09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66265059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97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7215584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21607353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114203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085293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50151434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40707864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09599" y="2174874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587626666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93370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851835079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93370" y="2174874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938608589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441040786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275124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446564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072262332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72799672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9214493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1986245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726176121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4158465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7729307" name="Title 1"/>
          <p:cNvSpPr>
            <a:spLocks noGrp="1"/>
          </p:cNvSpPr>
          <p:nvPr>
            <p:ph type="title"/>
          </p:nvPr>
        </p:nvSpPr>
        <p:spPr bwMode="auto">
          <a:xfrm>
            <a:off x="609603" y="273049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72850987" name="Content Placeholder 2"/>
          <p:cNvSpPr>
            <a:spLocks noGrp="1"/>
          </p:cNvSpPr>
          <p:nvPr>
            <p:ph idx="1"/>
          </p:nvPr>
        </p:nvSpPr>
        <p:spPr bwMode="auto">
          <a:xfrm>
            <a:off x="4766732" y="273051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01192831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09603" y="1435102"/>
            <a:ext cx="4011084" cy="46910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29032282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413687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21425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8505648" name="Title 1"/>
          <p:cNvSpPr>
            <a:spLocks noGrp="1"/>
          </p:cNvSpPr>
          <p:nvPr>
            <p:ph type="title"/>
          </p:nvPr>
        </p:nvSpPr>
        <p:spPr bwMode="auto">
          <a:xfrm>
            <a:off x="2389717" y="4800601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192153894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2389717" y="612774"/>
            <a:ext cx="7315200" cy="411479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/>
          </a:p>
        </p:txBody>
      </p:sp>
      <p:sp>
        <p:nvSpPr>
          <p:cNvPr id="157494596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2113941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210639202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05803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27409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871583307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10308004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55766525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569965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0086268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839199" y="274639"/>
            <a:ext cx="2743200" cy="5851525"/>
          </a:xfrm>
        </p:spPr>
        <p:txBody>
          <a:bodyPr vert="eaVert"/>
          <a:lstStyle>
            <a:lvl1pPr algn="ct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056184341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09599" y="274639"/>
            <a:ext cx="8026399" cy="5851525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62579146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4261729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812834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3281188" name="Shape 1059"/>
          <p:cNvSpPr>
            <a:spLocks noChangeArrowheads="1" noGrp="1"/>
          </p:cNvSpPr>
          <p:nvPr userDrawn="1"/>
        </p:nvSpPr>
        <p:spPr bwMode="auto">
          <a:xfrm>
            <a:off x="4976706" y="2"/>
            <a:ext cx="3058159" cy="89379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0"/>
                </a:moveTo>
                <a:lnTo>
                  <a:pt x="0" y="0"/>
                </a:lnTo>
                <a:cubicBezTo>
                  <a:pt x="1690" y="6213"/>
                  <a:pt x="3698" y="13338"/>
                  <a:pt x="6091" y="21902"/>
                </a:cubicBezTo>
                <a:lnTo>
                  <a:pt x="6091" y="21902"/>
                </a:lnTo>
                <a:cubicBezTo>
                  <a:pt x="12043" y="43199"/>
                  <a:pt x="17573" y="35347"/>
                  <a:pt x="23417" y="30579"/>
                </a:cubicBezTo>
                <a:lnTo>
                  <a:pt x="23417" y="30579"/>
                </a:lnTo>
                <a:cubicBezTo>
                  <a:pt x="29984" y="25223"/>
                  <a:pt x="42123" y="14119"/>
                  <a:pt x="42860" y="5640"/>
                </a:cubicBezTo>
                <a:lnTo>
                  <a:pt x="42860" y="5640"/>
                </a:lnTo>
                <a:cubicBezTo>
                  <a:pt x="42960" y="4507"/>
                  <a:pt x="43072" y="2479"/>
                  <a:pt x="43200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974960560" name="Shape 1060"/>
          <p:cNvSpPr>
            <a:spLocks noChangeArrowheads="1" noGrp="1"/>
          </p:cNvSpPr>
          <p:nvPr userDrawn="1"/>
        </p:nvSpPr>
        <p:spPr bwMode="auto">
          <a:xfrm>
            <a:off x="-24679" y="1"/>
            <a:ext cx="1399539" cy="1797558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1743" y="2484"/>
                </a:moveTo>
                <a:lnTo>
                  <a:pt x="31743" y="2484"/>
                </a:lnTo>
                <a:cubicBezTo>
                  <a:pt x="30428" y="1799"/>
                  <a:pt x="28450" y="1080"/>
                  <a:pt x="26054" y="0"/>
                </a:cubicBezTo>
                <a:lnTo>
                  <a:pt x="0" y="0"/>
                </a:lnTo>
                <a:lnTo>
                  <a:pt x="0" y="34200"/>
                </a:lnTo>
                <a:lnTo>
                  <a:pt x="0" y="34200"/>
                </a:lnTo>
                <a:cubicBezTo>
                  <a:pt x="7029" y="37461"/>
                  <a:pt x="14504" y="41491"/>
                  <a:pt x="25070" y="40664"/>
                </a:cubicBezTo>
                <a:lnTo>
                  <a:pt x="25070" y="40664"/>
                </a:lnTo>
                <a:cubicBezTo>
                  <a:pt x="33399" y="40015"/>
                  <a:pt x="43200" y="43200"/>
                  <a:pt x="39593" y="28375"/>
                </a:cubicBezTo>
                <a:lnTo>
                  <a:pt x="39593" y="28375"/>
                </a:lnTo>
                <a:cubicBezTo>
                  <a:pt x="35986" y="13550"/>
                  <a:pt x="38530" y="6023"/>
                  <a:pt x="31743" y="248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464573128" name="Shape 1061"/>
          <p:cNvSpPr>
            <a:spLocks noChangeArrowheads="1" noGrp="1"/>
          </p:cNvSpPr>
          <p:nvPr userDrawn="1"/>
        </p:nvSpPr>
        <p:spPr bwMode="auto">
          <a:xfrm>
            <a:off x="1637456" y="1"/>
            <a:ext cx="3839633" cy="260965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2864" y="0"/>
                </a:moveTo>
                <a:lnTo>
                  <a:pt x="10583" y="0"/>
                </a:lnTo>
                <a:lnTo>
                  <a:pt x="10583" y="0"/>
                </a:lnTo>
                <a:cubicBezTo>
                  <a:pt x="9017" y="532"/>
                  <a:pt x="7515" y="1058"/>
                  <a:pt x="6214" y="1509"/>
                </a:cubicBezTo>
                <a:lnTo>
                  <a:pt x="6214" y="1509"/>
                </a:lnTo>
                <a:cubicBezTo>
                  <a:pt x="1428" y="3166"/>
                  <a:pt x="0" y="6109"/>
                  <a:pt x="212" y="8072"/>
                </a:cubicBezTo>
                <a:lnTo>
                  <a:pt x="212" y="8072"/>
                </a:lnTo>
                <a:cubicBezTo>
                  <a:pt x="758" y="13092"/>
                  <a:pt x="1111" y="20742"/>
                  <a:pt x="1212" y="25114"/>
                </a:cubicBezTo>
                <a:lnTo>
                  <a:pt x="1212" y="25114"/>
                </a:lnTo>
                <a:cubicBezTo>
                  <a:pt x="1301" y="28962"/>
                  <a:pt x="4204" y="30446"/>
                  <a:pt x="6906" y="31937"/>
                </a:cubicBezTo>
                <a:lnTo>
                  <a:pt x="6906" y="31937"/>
                </a:lnTo>
                <a:cubicBezTo>
                  <a:pt x="9246" y="33229"/>
                  <a:pt x="19775" y="38395"/>
                  <a:pt x="22112" y="39685"/>
                </a:cubicBezTo>
                <a:lnTo>
                  <a:pt x="22112" y="39685"/>
                </a:lnTo>
                <a:cubicBezTo>
                  <a:pt x="22112" y="39685"/>
                  <a:pt x="27355" y="43200"/>
                  <a:pt x="30298" y="38395"/>
                </a:cubicBezTo>
                <a:lnTo>
                  <a:pt x="30298" y="38395"/>
                </a:lnTo>
                <a:cubicBezTo>
                  <a:pt x="33277" y="33533"/>
                  <a:pt x="36665" y="27667"/>
                  <a:pt x="39367" y="23576"/>
                </a:cubicBezTo>
                <a:lnTo>
                  <a:pt x="39367" y="23576"/>
                </a:lnTo>
                <a:cubicBezTo>
                  <a:pt x="41761" y="19953"/>
                  <a:pt x="43200" y="17587"/>
                  <a:pt x="40977" y="12816"/>
                </a:cubicBezTo>
                <a:lnTo>
                  <a:pt x="40977" y="12816"/>
                </a:lnTo>
                <a:cubicBezTo>
                  <a:pt x="39697" y="10062"/>
                  <a:pt x="35347" y="3936"/>
                  <a:pt x="32864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774753215" name="Title 1"/>
          <p:cNvSpPr>
            <a:spLocks noGrp="1"/>
          </p:cNvSpPr>
          <p:nvPr>
            <p:ph type="title"/>
          </p:nvPr>
        </p:nvSpPr>
        <p:spPr bwMode="auto">
          <a:xfrm>
            <a:off x="609599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84913921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600201"/>
            <a:ext cx="10972800" cy="4525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79965305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09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43943014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165599" y="6356351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516874584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737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0">
        <a:spcBef>
          <a:spcPts val="0"/>
        </a:spcBef>
        <a:buNone/>
        <a:defRPr sz="4400">
          <a:solidFill>
            <a:schemeClr val="tx1">
              <a:lumMod val="65000"/>
              <a:lumOff val="35000"/>
            </a:schemeClr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599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juanda-airport.com/id/terminal-kedatangan/index/domestic" TargetMode="External"/><Relationship Id="rId4" Type="http://schemas.openxmlformats.org/officeDocument/2006/relationships/hyperlink" Target="https://juanda-airport.com/id/terminal-kedatangan/index/international" TargetMode="External"/><Relationship Id="rId5" Type="http://schemas.openxmlformats.org/officeDocument/2006/relationships/hyperlink" Target="https://juanda-airport.com/id/terminal-keberangkatan/index/international" TargetMode="External"/><Relationship Id="rId6" Type="http://schemas.openxmlformats.org/officeDocument/2006/relationships/hyperlink" Target="https://juanda-airport.com/id/terminal-keberangkatan/index/domestic" TargetMode="External"/><Relationship Id="rId7" Type="http://schemas.openxmlformats.org/officeDocument/2006/relationships/image" Target="../media/image12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2746571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802049" y="2381248"/>
            <a:ext cx="10781226" cy="193834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en-US" sz="4800"/>
              <a:t>Big Data: </a:t>
            </a:r>
            <a:r>
              <a:rPr lang="en-US" sz="4800" b="1"/>
              <a:t>Penerbangan</a:t>
            </a:r>
            <a:endParaRPr sz="4800"/>
          </a:p>
        </p:txBody>
      </p:sp>
      <p:sp>
        <p:nvSpPr>
          <p:cNvPr id="83489384" name=""/>
          <p:cNvSpPr txBox="1"/>
          <p:nvPr/>
        </p:nvSpPr>
        <p:spPr bwMode="auto">
          <a:xfrm rot="0" flipH="0" flipV="0">
            <a:off x="8175183" y="6395719"/>
            <a:ext cx="3868032" cy="3657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/>
              <a:t>https://github.com/jendralhxr/bigdata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9267281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312333" y="370416"/>
            <a:ext cx="9118410" cy="607483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2207879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93343" y="1470554"/>
            <a:ext cx="9540739" cy="4642409"/>
          </a:xfrm>
          <a:prstGeom prst="rect">
            <a:avLst/>
          </a:prstGeom>
        </p:spPr>
      </p:pic>
      <p:sp>
        <p:nvSpPr>
          <p:cNvPr id="1673851557" name=""/>
          <p:cNvSpPr txBox="1"/>
          <p:nvPr/>
        </p:nvSpPr>
        <p:spPr bwMode="auto">
          <a:xfrm rot="0" flipH="0" flipV="0">
            <a:off x="493343" y="6161828"/>
            <a:ext cx="3562637" cy="3657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/>
              <a:t>https://map.opensky-network.org/</a:t>
            </a:r>
            <a:endParaRPr/>
          </a:p>
        </p:txBody>
      </p:sp>
      <p:sp>
        <p:nvSpPr>
          <p:cNvPr id="51015331" name="Title 1"/>
          <p:cNvSpPr>
            <a:spLocks noGrp="1"/>
          </p:cNvSpPr>
          <p:nvPr>
            <p:ph type="title"/>
          </p:nvPr>
        </p:nvSpPr>
        <p:spPr bwMode="auto">
          <a:xfrm>
            <a:off x="609598" y="274637"/>
            <a:ext cx="10972800" cy="1143000"/>
          </a:xfrm>
        </p:spPr>
        <p:txBody>
          <a:bodyPr/>
          <a:lstStyle/>
          <a:p>
            <a:pPr>
              <a:defRPr/>
            </a:pPr>
            <a:r>
              <a:rPr/>
              <a:t>Opensky Network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92986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ADS-B Exchange</a:t>
            </a:r>
            <a:endParaRPr/>
          </a:p>
        </p:txBody>
      </p:sp>
      <p:pic>
        <p:nvPicPr>
          <p:cNvPr id="130561425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846022" y="1274762"/>
            <a:ext cx="10499954" cy="52558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050944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Flighradar24</a:t>
            </a:r>
            <a:endParaRPr/>
          </a:p>
        </p:txBody>
      </p:sp>
      <p:pic>
        <p:nvPicPr>
          <p:cNvPr id="2040273976" name=""/>
          <p:cNvPicPr>
            <a:picLocks noChangeAspect="1"/>
          </p:cNvPicPr>
          <p:nvPr/>
        </p:nvPicPr>
        <p:blipFill rotWithShape="1">
          <a:blip r:embed="rId3"/>
          <a:srcRect l="0" t="11610" r="7343" b="0"/>
          <a:stretch/>
        </p:blipFill>
        <p:spPr bwMode="auto">
          <a:xfrm flipH="0" flipV="0">
            <a:off x="878416" y="1335681"/>
            <a:ext cx="9600166" cy="53249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3913956" name=""/>
          <p:cNvSpPr txBox="1"/>
          <p:nvPr/>
        </p:nvSpPr>
        <p:spPr bwMode="auto">
          <a:xfrm rot="0" flipH="0" flipV="0">
            <a:off x="9359530" y="166687"/>
            <a:ext cx="2577938" cy="57947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3200"/>
              <a:t>Sumber Data</a:t>
            </a:r>
            <a:endParaRPr sz="3200"/>
          </a:p>
        </p:txBody>
      </p:sp>
      <p:pic>
        <p:nvPicPr>
          <p:cNvPr id="190854401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72805" y="2867024"/>
            <a:ext cx="2143125" cy="2143125"/>
          </a:xfrm>
          <a:prstGeom prst="rect">
            <a:avLst/>
          </a:prstGeom>
        </p:spPr>
      </p:pic>
      <p:pic>
        <p:nvPicPr>
          <p:cNvPr id="1552859062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-71437" y="2012155"/>
            <a:ext cx="2413576" cy="1416843"/>
          </a:xfrm>
          <a:prstGeom prst="rect">
            <a:avLst/>
          </a:prstGeom>
        </p:spPr>
      </p:pic>
      <p:sp>
        <p:nvSpPr>
          <p:cNvPr id="1511916384" name=""/>
          <p:cNvSpPr txBox="1"/>
          <p:nvPr/>
        </p:nvSpPr>
        <p:spPr bwMode="auto">
          <a:xfrm rot="0" flipH="0" flipV="0">
            <a:off x="3415930" y="2605680"/>
            <a:ext cx="8665340" cy="1189080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 marL="349965" indent="-349965">
              <a:buFont typeface="Arial"/>
              <a:buChar char="•"/>
              <a:defRPr/>
            </a:pPr>
            <a:r>
              <a:rPr sz="2400"/>
              <a:t>Raspberry pi, SDR, antena pada 1090 MHz (crowdsourcing)</a:t>
            </a:r>
            <a:endParaRPr sz="2400"/>
          </a:p>
          <a:p>
            <a:pPr marL="349965" indent="-349965">
              <a:buFont typeface="Arial"/>
              <a:buChar char="•"/>
              <a:defRPr/>
            </a:pPr>
            <a:r>
              <a:rPr sz="2400"/>
              <a:t>FLARM</a:t>
            </a:r>
            <a:endParaRPr sz="2400"/>
          </a:p>
          <a:p>
            <a:pPr marL="349965" indent="-349965">
              <a:buFont typeface="Arial"/>
              <a:buChar char="•"/>
              <a:defRPr/>
            </a:pPr>
            <a:r>
              <a:rPr sz="2400"/>
              <a:t>Frekuensi ADS-B</a:t>
            </a:r>
            <a:endParaRPr sz="2400"/>
          </a:p>
        </p:txBody>
      </p:sp>
      <p:pic>
        <p:nvPicPr>
          <p:cNvPr id="814934549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153009" y="5563100"/>
            <a:ext cx="1620468" cy="1075991"/>
          </a:xfrm>
          <a:prstGeom prst="rect">
            <a:avLst/>
          </a:prstGeom>
        </p:spPr>
      </p:pic>
      <p:pic>
        <p:nvPicPr>
          <p:cNvPr id="71597948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2153868" y="5469651"/>
            <a:ext cx="2156249" cy="12628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3734397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322012" y="684861"/>
            <a:ext cx="9001799" cy="5488276"/>
          </a:xfrm>
          <a:prstGeom prst="rect">
            <a:avLst/>
          </a:prstGeom>
        </p:spPr>
      </p:pic>
      <p:sp>
        <p:nvSpPr>
          <p:cNvPr id="26262440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Data Historis</a:t>
            </a:r>
            <a:endParaRPr/>
          </a:p>
        </p:txBody>
      </p:sp>
      <p:sp>
        <p:nvSpPr>
          <p:cNvPr id="1317679549" name=""/>
          <p:cNvSpPr txBox="1"/>
          <p:nvPr/>
        </p:nvSpPr>
        <p:spPr bwMode="auto">
          <a:xfrm rot="0" flipH="0" flipV="0">
            <a:off x="191044" y="6389370"/>
            <a:ext cx="3499349" cy="3657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/>
              <a:t>https://opensky-network.org/data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5352721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0" y="309104"/>
            <a:ext cx="9538124" cy="5882145"/>
          </a:xfrm>
          <a:prstGeom prst="rect">
            <a:avLst/>
          </a:prstGeom>
        </p:spPr>
      </p:pic>
      <p:sp>
        <p:nvSpPr>
          <p:cNvPr id="191743926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Data Live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0142977" name="Title 1"/>
          <p:cNvSpPr>
            <a:spLocks noGrp="1"/>
          </p:cNvSpPr>
          <p:nvPr>
            <p:ph type="title"/>
          </p:nvPr>
        </p:nvSpPr>
        <p:spPr bwMode="auto">
          <a:xfrm>
            <a:off x="752473" y="167481"/>
            <a:ext cx="10972800" cy="1143000"/>
          </a:xfrm>
        </p:spPr>
        <p:txBody>
          <a:bodyPr/>
          <a:lstStyle/>
          <a:p>
            <a:pPr>
              <a:defRPr/>
            </a:pPr>
            <a:r>
              <a:rPr/>
              <a:t>Volume, Velocity</a:t>
            </a:r>
            <a:endParaRPr/>
          </a:p>
        </p:txBody>
      </p:sp>
      <p:pic>
        <p:nvPicPr>
          <p:cNvPr id="1946818261" name=""/>
          <p:cNvPicPr>
            <a:picLocks noChangeAspect="1"/>
          </p:cNvPicPr>
          <p:nvPr/>
        </p:nvPicPr>
        <p:blipFill rotWithShape="1">
          <a:blip r:embed="rId3"/>
          <a:srcRect l="17700" t="0" r="0" b="0"/>
          <a:stretch/>
        </p:blipFill>
        <p:spPr bwMode="auto">
          <a:xfrm flipH="0" flipV="0">
            <a:off x="132187" y="1197331"/>
            <a:ext cx="9155905" cy="5446355"/>
          </a:xfrm>
          <a:prstGeom prst="rect">
            <a:avLst/>
          </a:prstGeom>
        </p:spPr>
      </p:pic>
      <p:sp>
        <p:nvSpPr>
          <p:cNvPr id="1409560220" name=""/>
          <p:cNvSpPr txBox="1"/>
          <p:nvPr/>
        </p:nvSpPr>
        <p:spPr bwMode="auto">
          <a:xfrm rot="0" flipH="0" flipV="0">
            <a:off x="9430968" y="2000249"/>
            <a:ext cx="2210936" cy="22863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400"/>
              <a:t>&gt;5000an pesawat tiap waktu</a:t>
            </a:r>
            <a:endParaRPr sz="2400"/>
          </a:p>
          <a:p>
            <a:pPr>
              <a:defRPr/>
            </a:pPr>
            <a:endParaRPr sz="2400"/>
          </a:p>
          <a:p>
            <a:pPr>
              <a:defRPr/>
            </a:pPr>
            <a:r>
              <a:rPr sz="2400"/>
              <a:t>Update tiap 2 detik</a:t>
            </a:r>
            <a:endParaRPr sz="2400"/>
          </a:p>
        </p:txBody>
      </p:sp>
      <p:sp>
        <p:nvSpPr>
          <p:cNvPr id="355685227" name=""/>
          <p:cNvSpPr/>
          <p:nvPr/>
        </p:nvSpPr>
        <p:spPr bwMode="auto">
          <a:xfrm rot="0" flipH="0" flipV="0">
            <a:off x="6478218" y="3024187"/>
            <a:ext cx="964406" cy="440530"/>
          </a:xfrm>
          <a:prstGeom prst="rect">
            <a:avLst/>
          </a:prstGeom>
          <a:solidFill>
            <a:srgbClr val="FFFF00">
              <a:alpha val="18000"/>
            </a:srgbClr>
          </a:solidFill>
          <a:ln w="25400" cap="flat" cmpd="sng" algn="ctr">
            <a:solidFill>
              <a:srgbClr val="FFFF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2655473" name=""/>
          <p:cNvSpPr/>
          <p:nvPr/>
        </p:nvSpPr>
        <p:spPr bwMode="auto">
          <a:xfrm>
            <a:off x="102718" y="5896927"/>
            <a:ext cx="4730231" cy="8233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1200" b="0" i="0" u="sng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hlinkClick r:id="rId3" tooltip=""/>
              </a:rPr>
              <a:t>https://juanda-airport.com/id/terminal-kedatangan/index/domestic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endParaRPr/>
          </a:p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1200" b="0" i="0" u="sng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hlinkClick r:id="rId4" tooltip=""/>
              </a:rPr>
              <a:t>https://juanda-airport.com/id/terminal-kedatangan/index/international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endParaRPr/>
          </a:p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1200" b="0" i="0" u="sng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hlinkClick r:id="rId5" tooltip=""/>
              </a:rPr>
              <a:t>https://juanda-airport.com/id/terminal-keberangkatan/index/international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 </a:t>
            </a:r>
            <a:endParaRPr/>
          </a:p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1200" b="0" i="0" u="sng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hlinkClick r:id="rId6" tooltip=""/>
              </a:rPr>
              <a:t>https://juanda-airport.com/id/terminal-keberangkatan/index/domestic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 </a:t>
            </a:r>
            <a:endParaRPr/>
          </a:p>
        </p:txBody>
      </p:sp>
      <p:pic>
        <p:nvPicPr>
          <p:cNvPr id="1340351848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102718" y="142875"/>
            <a:ext cx="6639948" cy="5040051"/>
          </a:xfrm>
          <a:prstGeom prst="rect">
            <a:avLst/>
          </a:prstGeom>
        </p:spPr>
      </p:pic>
      <p:graphicFrame>
        <p:nvGraphicFramePr>
          <p:cNvPr id="212938334" name=""/>
          <p:cNvGraphicFramePr>
            <a:graphicFrameLocks xmlns:a="http://schemas.openxmlformats.org/drawingml/2006/main"/>
          </p:cNvGraphicFramePr>
          <p:nvPr/>
        </p:nvGraphicFramePr>
        <p:xfrm>
          <a:off x="6814343" y="2171699"/>
          <a:ext cx="2953968" cy="6515099"/>
        </p:xfrm>
        <a:graphic>
          <a:graphicData uri="http://schemas.openxmlformats.org/drawingml/2006/table">
            <a:tbl>
              <a:tblPr firstRow="1" firstCol="1" lastRow="0" lastCol="0" bandRow="1" bandCol="0"/>
              <a:tblGrid>
                <a:gridCol w="3927631"/>
                <a:gridCol w="1228857"/>
              </a:tblGrid>
              <a:tr h="270000">
                <a:tc>
                  <a:txBody>
                    <a:bodyPr/>
                    <a:p>
                      <a:pPr>
                        <a:defRPr/>
                      </a:pPr>
                      <a:r>
                        <a:rPr sz="2000" b="1" i="0" u="none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Flight Category</a:t>
                      </a:r>
                      <a:endParaRPr sz="2000" b="1"/>
                    </a:p>
                  </a:txBody>
                  <a:tcPr marL="9524" marR="9524" marT="9524" marB="9524" anchor="ctr"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000" b="1" i="0" u="none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Jumlah</a:t>
                      </a:r>
                      <a:endParaRPr sz="2000" b="1"/>
                    </a:p>
                  </a:txBody>
                  <a:tcPr marL="9524" marR="9524" marT="9524" marB="9524" anchor="ctr"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</a:tr>
              <a:tr h="247650">
                <a:tc>
                  <a:txBody>
                    <a:bodyPr/>
                    <a:p>
                      <a:pPr>
                        <a:defRPr/>
                      </a:pPr>
                      <a:r>
                        <a:rPr sz="2000" b="0" i="0" u="none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Domestic Arrival (Terminal Kedatangan - Domestik)</a:t>
                      </a:r>
                      <a:endParaRPr sz="2000" b="0"/>
                    </a:p>
                  </a:txBody>
                  <a:tcPr marL="9524" marR="9524" marT="9524" marB="9524" anchor="ctr">
                    <a:lnT w="12699" algn="ctr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000" b="0" i="0" u="none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27</a:t>
                      </a:r>
                      <a:endParaRPr sz="2000" b="0"/>
                    </a:p>
                  </a:txBody>
                  <a:tcPr marL="9524" marR="9524" marT="9524" marB="9524" anchor="ctr">
                    <a:lnT w="12699" algn="ctr">
                      <a:solidFill>
                        <a:srgbClr val="000000"/>
                      </a:solidFill>
                    </a:lnT>
                  </a:tcPr>
                </a:tc>
              </a:tr>
              <a:tr h="247650">
                <a:tc>
                  <a:txBody>
                    <a:bodyPr/>
                    <a:p>
                      <a:pPr>
                        <a:defRPr/>
                      </a:pPr>
                      <a:r>
                        <a:rPr sz="2000" b="0" i="0" u="none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International Arrival (Terminal Kedatangan - Internasional)</a:t>
                      </a:r>
                      <a:endParaRPr sz="2000" b="0"/>
                    </a:p>
                  </a:txBody>
                  <a:tcPr marL="9524" marR="9524" marT="9524" marB="9524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000" b="0" i="0" u="none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13</a:t>
                      </a:r>
                      <a:endParaRPr sz="2000" b="0"/>
                    </a:p>
                  </a:txBody>
                  <a:tcPr marL="9524" marR="9524" marT="9524" marB="9524" anchor="ctr"/>
                </a:tc>
              </a:tr>
              <a:tr h="247650">
                <a:tc>
                  <a:txBody>
                    <a:bodyPr/>
                    <a:p>
                      <a:pPr>
                        <a:defRPr/>
                      </a:pPr>
                      <a:r>
                        <a:rPr sz="2000" b="0" i="0" u="none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International Departure (Terminal Keberangkatan - Internasional)</a:t>
                      </a:r>
                      <a:endParaRPr sz="2000" b="0"/>
                    </a:p>
                  </a:txBody>
                  <a:tcPr marL="9524" marR="9524" marT="9524" marB="9524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000" b="0" i="0" u="none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3</a:t>
                      </a:r>
                      <a:endParaRPr sz="2000" b="0"/>
                    </a:p>
                  </a:txBody>
                  <a:tcPr marL="9524" marR="9524" marT="9524" marB="9524" anchor="ctr"/>
                </a:tc>
              </a:tr>
              <a:tr h="247650">
                <a:tc>
                  <a:txBody>
                    <a:bodyPr/>
                    <a:p>
                      <a:pPr>
                        <a:defRPr/>
                      </a:pPr>
                      <a:r>
                        <a:rPr sz="2000" b="0" i="0" u="none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Domestic Departure (Terminal Keberangkatan - Domestik)</a:t>
                      </a:r>
                      <a:endParaRPr sz="2000" b="0"/>
                    </a:p>
                  </a:txBody>
                  <a:tcPr marL="9524" marR="9524" marT="9524" marB="9524" anchor="ctr"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000" b="0" i="0" u="none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36</a:t>
                      </a:r>
                      <a:endParaRPr sz="2000" b="0"/>
                    </a:p>
                  </a:txBody>
                  <a:tcPr marL="9524" marR="9524" marT="9524" marB="9524" anchor="ctr">
                    <a:lnB w="12699" algn="ctr">
                      <a:solidFill>
                        <a:srgbClr val="000000"/>
                      </a:solidFill>
                    </a:lnB>
                  </a:tcPr>
                </a:tc>
              </a:tr>
              <a:tr h="133350">
                <a:tc>
                  <a:txBody>
                    <a:bodyPr/>
                    <a:p>
                      <a:pPr>
                        <a:defRPr/>
                      </a:pPr>
                      <a:r>
                        <a:rPr sz="2000" b="0" i="0" u="none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Total Active Scheduled Flights</a:t>
                      </a:r>
                      <a:endParaRPr sz="2000" b="0"/>
                    </a:p>
                  </a:txBody>
                  <a:tcPr marL="9524" marR="9524" marT="9524" marB="9524" anchor="ctr"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2000" b="0" i="0" u="none">
                          <a:solidFill>
                            <a:srgbClr val="000000"/>
                          </a:solidFill>
                          <a:latin typeface="Liberation Serif"/>
                          <a:ea typeface="Liberation Serif"/>
                          <a:cs typeface="Liberation Serif"/>
                        </a:rPr>
                        <a:t>79</a:t>
                      </a:r>
                      <a:endParaRPr sz="2000" b="0"/>
                    </a:p>
                  </a:txBody>
                  <a:tcPr marL="9524" marR="9524" marT="9524" marB="9524" anchor="ctr"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315272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Variety, Veracity</a:t>
            </a:r>
            <a:endParaRPr/>
          </a:p>
        </p:txBody>
      </p:sp>
      <p:pic>
        <p:nvPicPr>
          <p:cNvPr id="454201450" name=""/>
          <p:cNvPicPr>
            <a:picLocks noChangeAspect="1"/>
          </p:cNvPicPr>
          <p:nvPr/>
        </p:nvPicPr>
        <p:blipFill rotWithShape="1">
          <a:blip r:embed="rId3"/>
          <a:srcRect l="0" t="0" r="0" b="47792"/>
          <a:stretch/>
        </p:blipFill>
        <p:spPr bwMode="auto">
          <a:xfrm flipH="0" flipV="0">
            <a:off x="1142999" y="1744435"/>
            <a:ext cx="2232880" cy="4482650"/>
          </a:xfrm>
          <a:prstGeom prst="rect">
            <a:avLst/>
          </a:prstGeom>
        </p:spPr>
      </p:pic>
      <p:pic>
        <p:nvPicPr>
          <p:cNvPr id="1903717885" name=""/>
          <p:cNvPicPr>
            <a:picLocks noChangeAspect="1"/>
          </p:cNvPicPr>
          <p:nvPr/>
        </p:nvPicPr>
        <p:blipFill rotWithShape="1">
          <a:blip r:embed="rId4"/>
          <a:srcRect l="0" t="0" r="0" b="49644"/>
          <a:stretch/>
        </p:blipFill>
        <p:spPr bwMode="auto">
          <a:xfrm flipH="0" flipV="0">
            <a:off x="5989453" y="1712608"/>
            <a:ext cx="2358656" cy="5114433"/>
          </a:xfrm>
          <a:prstGeom prst="rect">
            <a:avLst/>
          </a:prstGeom>
        </p:spPr>
      </p:pic>
      <p:pic>
        <p:nvPicPr>
          <p:cNvPr id="1884734404" name=""/>
          <p:cNvPicPr>
            <a:picLocks noChangeAspect="1"/>
          </p:cNvPicPr>
          <p:nvPr/>
        </p:nvPicPr>
        <p:blipFill rotWithShape="1">
          <a:blip r:embed="rId3"/>
          <a:srcRect l="0" t="51401" r="0" b="0"/>
          <a:stretch/>
        </p:blipFill>
        <p:spPr bwMode="auto">
          <a:xfrm flipH="0" flipV="0">
            <a:off x="3486149" y="1748209"/>
            <a:ext cx="2232880" cy="4172776"/>
          </a:xfrm>
          <a:prstGeom prst="rect">
            <a:avLst/>
          </a:prstGeom>
        </p:spPr>
      </p:pic>
      <p:pic>
        <p:nvPicPr>
          <p:cNvPr id="80832320" name=""/>
          <p:cNvPicPr>
            <a:picLocks noChangeAspect="1"/>
          </p:cNvPicPr>
          <p:nvPr/>
        </p:nvPicPr>
        <p:blipFill rotWithShape="1">
          <a:blip r:embed="rId4"/>
          <a:srcRect l="0" t="50345" r="0" b="0"/>
          <a:stretch/>
        </p:blipFill>
        <p:spPr bwMode="auto">
          <a:xfrm flipH="0" flipV="0">
            <a:off x="8560593" y="1712608"/>
            <a:ext cx="2358656" cy="504323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840540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Value</a:t>
            </a:r>
            <a:endParaRPr/>
          </a:p>
        </p:txBody>
      </p:sp>
      <p:sp>
        <p:nvSpPr>
          <p:cNvPr id="58353483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b="1"/>
              <a:t>Menyelamatkan nyawa</a:t>
            </a:r>
            <a:r>
              <a:rPr/>
              <a:t> manusia</a:t>
            </a:r>
            <a:endParaRPr/>
          </a:p>
          <a:p>
            <a:pPr>
              <a:defRPr/>
            </a:pPr>
            <a:r>
              <a:rPr/>
              <a:t>Pesawat tidak tabrakan (separasi flight level di udara 1000 ft, ~300 meter)</a:t>
            </a:r>
            <a:endParaRPr/>
          </a:p>
          <a:p>
            <a:pPr>
              <a:defRPr/>
            </a:pPr>
            <a:r>
              <a:rPr/>
              <a:t>Pesawat tidak kecelakaan (di udara, darat, dan laut)</a:t>
            </a:r>
            <a:endParaRPr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Turtl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lassic 2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Standard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ONLYOFFICE/9.2.0.100</Application>
  <PresentationFormat>On-screen Show (4:3)</PresentationFormat>
  <Paragraphs>0</Paragraphs>
  <Slides>12</Slides>
  <Notes>12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15</cp:revision>
  <dcterms:modified xsi:type="dcterms:W3CDTF">2026-05-20T07:24:51Z</dcterms:modified>
</cp:coreProperties>
</file>