
<file path=[Content_Types].xml><?xml version="1.0" encoding="utf-8"?>
<Types xmlns="http://schemas.openxmlformats.org/package/2006/content-types">
  <Default Extension="xml" ContentType="application/xml"/>
  <Default Extension="mp4" ContentType="video/unknown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8291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073955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79807263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473887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6632381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6932203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18304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473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6460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75888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70514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081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328655-01FB-60C9-329C-CD66B065BA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7832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6237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9859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0B16E0-EEE9-6827-E841-33F6DDF17E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9696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2269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8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3E15E6-B380-9FB8-0993-07F4597613D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3031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683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070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FC1D84-8A64-828B-1B7A-B886432A1E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2582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32564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5635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DF5F28-5D4C-BAAF-1274-FFBF1A993F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53413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07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804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15463E-5570-23CE-42EE-1310611A50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37887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3588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569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E687CF-6AED-20D1-BA7D-F9F4BE8A0A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83399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2288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560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C51898-9A7A-6AC5-1CB2-FC2A545596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2811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8942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9894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DF32BF-A367-88F6-DE3B-EDA7F79D8A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8109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4555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4667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4B6EB3-F627-34D4-6802-229ACE01D2F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0885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3990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045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0460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2466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3868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9C0D9E-475F-7B4C-EA5D-85E0018667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09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5693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45875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1C9C07-38AD-0B3C-A5C5-080766C420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4005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91774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4922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D4E670-E0C4-5027-7D4B-87908A93F56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82254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979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9951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F00373-118D-9EDD-7B07-34F8BD158D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5558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1911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58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CF76B-D38B-6B95-C9FB-6D9C077F4AE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299147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28368131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14410471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22538384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63192084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245226048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9372104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493104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3189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616255041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19635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075111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6505794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392684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413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828859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001366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627216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777883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722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0029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5360369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748672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989159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944213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3199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11039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334908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3366108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0522327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8017038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7499875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708054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4655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9472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4077363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2342594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6152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41990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0538347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14242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49740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04898678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8139674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8330920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7263323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98365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24079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2775298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1665372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8650860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909172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68476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0531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1055811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384054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541092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314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25574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8148160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551573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7323780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0809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717917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79843556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83591894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72843733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847811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9117186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7730220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92438137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microsoft.com/office/2007/relationships/media" Target="../media/media1.mp4"/><Relationship Id="rId5" Type="http://schemas.openxmlformats.org/officeDocument/2006/relationships/video" Target="../media/media1.mp4" /><Relationship Id="rId6" Type="http://schemas.openxmlformats.org/officeDocument/2006/relationships/hyperlink" Target="https://imginn.com/p/DXQucTWiOf7" TargetMode="External"/><Relationship Id="rId7" Type="http://schemas.openxmlformats.org/officeDocument/2006/relationships/hyperlink" Target="https://www.tikvib.com/profile/abilsudarman" TargetMode="Externa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hyperlink" Target="https://github.com/assai-id/nemesis" TargetMode="External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681246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 dalam: </a:t>
            </a:r>
            <a:r>
              <a:rPr lang="en-US" sz="4800" i="1"/>
              <a:t>Pengadaan</a:t>
            </a:r>
            <a:endParaRPr sz="4800"/>
          </a:p>
        </p:txBody>
      </p:sp>
      <p:sp>
        <p:nvSpPr>
          <p:cNvPr id="628893477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3266482" name="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/>
        </p:blipFill>
        <p:spPr bwMode="auto">
          <a:xfrm flipH="0" flipV="0">
            <a:off x="2577146" y="146196"/>
            <a:ext cx="5862571" cy="5862571"/>
          </a:xfrm>
          <a:prstGeom prst="rect">
            <a:avLst/>
          </a:prstGeom>
        </p:spPr>
      </p:pic>
      <p:sp>
        <p:nvSpPr>
          <p:cNvPr id="1702368090" name=""/>
          <p:cNvSpPr txBox="1"/>
          <p:nvPr/>
        </p:nvSpPr>
        <p:spPr bwMode="auto">
          <a:xfrm rot="0" flipH="0" flipV="0">
            <a:off x="8439717" y="5429660"/>
            <a:ext cx="3805202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u="sng">
                <a:hlinkClick r:id="rId6" tooltip=""/>
              </a:rPr>
              <a:t>https://imginn.com/p/DXQucTWiOf7</a:t>
            </a:r>
            <a:endParaRPr sz="1400"/>
          </a:p>
          <a:p>
            <a:pPr algn="l">
              <a:defRPr/>
            </a:pPr>
            <a:r>
              <a:rPr lang="en-US" sz="14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7" tooltip=""/>
              </a:rPr>
              <a:t>https://www.tikvib.com/profile/abilsudarman</a:t>
            </a:r>
            <a:r>
              <a:rPr sz="1400"/>
              <a:t> 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7211775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18485" y="264093"/>
            <a:ext cx="9659154" cy="6195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289729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68450" y="402464"/>
            <a:ext cx="6248399" cy="55340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4938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3112" y="335387"/>
            <a:ext cx="12045775" cy="58089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838452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14647" y="174401"/>
            <a:ext cx="11654181" cy="64260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471608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51530" y="215588"/>
            <a:ext cx="8833092" cy="5687228"/>
          </a:xfrm>
          <a:prstGeom prst="rect">
            <a:avLst/>
          </a:prstGeom>
        </p:spPr>
      </p:pic>
      <p:sp>
        <p:nvSpPr>
          <p:cNvPr id="1120420599" name=""/>
          <p:cNvSpPr txBox="1"/>
          <p:nvPr/>
        </p:nvSpPr>
        <p:spPr bwMode="auto">
          <a:xfrm rot="0" flipH="0" flipV="0">
            <a:off x="9861760" y="215588"/>
            <a:ext cx="2013434" cy="8233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/>
              <a:t>Sumber data:</a:t>
            </a:r>
            <a:endParaRPr sz="2400"/>
          </a:p>
          <a:p>
            <a:pPr>
              <a:defRPr/>
            </a:pPr>
            <a:r>
              <a:rPr sz="2400"/>
              <a:t>INAPROC</a:t>
            </a:r>
            <a:endParaRPr sz="2400"/>
          </a:p>
        </p:txBody>
      </p:sp>
      <p:pic>
        <p:nvPicPr>
          <p:cNvPr id="406973534" name=""/>
          <p:cNvPicPr>
            <a:picLocks noChangeAspect="1"/>
          </p:cNvPicPr>
          <p:nvPr/>
        </p:nvPicPr>
        <p:blipFill>
          <a:blip r:embed="rId4"/>
          <a:srcRect l="0" t="0" r="0" b="5042"/>
          <a:stretch/>
        </p:blipFill>
        <p:spPr bwMode="auto">
          <a:xfrm flipH="0" flipV="0">
            <a:off x="8424929" y="1274471"/>
            <a:ext cx="3762374" cy="48027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588582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5774" y="215588"/>
            <a:ext cx="11626535" cy="5606735"/>
          </a:xfrm>
          <a:prstGeom prst="rect">
            <a:avLst/>
          </a:prstGeom>
        </p:spPr>
      </p:pic>
      <p:sp>
        <p:nvSpPr>
          <p:cNvPr id="491070840" name=""/>
          <p:cNvSpPr txBox="1"/>
          <p:nvPr/>
        </p:nvSpPr>
        <p:spPr bwMode="auto">
          <a:xfrm rot="0" flipH="0" flipV="0">
            <a:off x="9378802" y="389989"/>
            <a:ext cx="2013434" cy="8233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/>
              <a:t>Sumber data:</a:t>
            </a:r>
            <a:endParaRPr sz="2400"/>
          </a:p>
          <a:p>
            <a:pPr>
              <a:defRPr/>
            </a:pPr>
            <a:r>
              <a:rPr sz="2400"/>
              <a:t>INAPROC</a:t>
            </a:r>
            <a:endParaRPr sz="2400"/>
          </a:p>
        </p:txBody>
      </p:sp>
      <p:sp>
        <p:nvSpPr>
          <p:cNvPr id="681255147" name=""/>
          <p:cNvSpPr txBox="1"/>
          <p:nvPr/>
        </p:nvSpPr>
        <p:spPr bwMode="auto">
          <a:xfrm rot="0" flipH="0" flipV="0">
            <a:off x="9137323" y="5975663"/>
            <a:ext cx="3114301" cy="45756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/>
              <a:t>ini pakai streamlit, lho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48422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619" y="867619"/>
            <a:ext cx="11845643" cy="3465585"/>
          </a:xfrm>
          <a:prstGeom prst="rect">
            <a:avLst/>
          </a:prstGeom>
        </p:spPr>
      </p:pic>
      <p:pic>
        <p:nvPicPr>
          <p:cNvPr id="76227376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47570" y="4427112"/>
            <a:ext cx="11849013" cy="16769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51376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46549" y="112061"/>
            <a:ext cx="9887218" cy="6696408"/>
          </a:xfrm>
          <a:prstGeom prst="rect">
            <a:avLst/>
          </a:prstGeom>
        </p:spPr>
      </p:pic>
      <p:sp>
        <p:nvSpPr>
          <p:cNvPr id="744277681" name=""/>
          <p:cNvSpPr txBox="1"/>
          <p:nvPr/>
        </p:nvSpPr>
        <p:spPr bwMode="auto">
          <a:xfrm rot="0" flipH="0" flipV="0">
            <a:off x="9861760" y="215588"/>
            <a:ext cx="2013434" cy="8233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/>
              <a:t>Sumber data:</a:t>
            </a:r>
            <a:endParaRPr sz="2400"/>
          </a:p>
          <a:p>
            <a:pPr>
              <a:defRPr/>
            </a:pPr>
            <a:r>
              <a:rPr sz="2400"/>
              <a:t>INAPROC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962598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28063" y="53661"/>
            <a:ext cx="7594542" cy="5955113"/>
          </a:xfrm>
          <a:prstGeom prst="rect">
            <a:avLst/>
          </a:prstGeom>
        </p:spPr>
      </p:pic>
      <p:sp>
        <p:nvSpPr>
          <p:cNvPr id="1122669724" name=""/>
          <p:cNvSpPr txBox="1"/>
          <p:nvPr/>
        </p:nvSpPr>
        <p:spPr bwMode="auto">
          <a:xfrm rot="0" flipH="0" flipV="0">
            <a:off x="1120433" y="6197528"/>
            <a:ext cx="6099194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2400" u="sng">
                <a:hlinkClick r:id="rId4" tooltip=""/>
              </a:rPr>
              <a:t>https://github.com/assai-id/nemesis</a:t>
            </a:r>
            <a:r>
              <a:rPr sz="2400"/>
              <a:t> </a:t>
            </a:r>
            <a:endParaRPr sz="2400"/>
          </a:p>
        </p:txBody>
      </p:sp>
      <p:pic>
        <p:nvPicPr>
          <p:cNvPr id="19662799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035880" y="107323"/>
            <a:ext cx="2438399" cy="676274"/>
          </a:xfrm>
          <a:prstGeom prst="rect">
            <a:avLst/>
          </a:prstGeom>
        </p:spPr>
      </p:pic>
      <p:pic>
        <p:nvPicPr>
          <p:cNvPr id="1210460999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8035880" y="912253"/>
            <a:ext cx="2447924" cy="533399"/>
          </a:xfrm>
          <a:prstGeom prst="rect">
            <a:avLst/>
          </a:prstGeom>
        </p:spPr>
      </p:pic>
      <p:pic>
        <p:nvPicPr>
          <p:cNvPr id="289872462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8035880" y="1609858"/>
            <a:ext cx="1981199" cy="561974"/>
          </a:xfrm>
          <a:prstGeom prst="rect">
            <a:avLst/>
          </a:prstGeom>
        </p:spPr>
      </p:pic>
      <p:pic>
        <p:nvPicPr>
          <p:cNvPr id="530625023" name="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045405" y="2307464"/>
            <a:ext cx="1962149" cy="533399"/>
          </a:xfrm>
          <a:prstGeom prst="rect">
            <a:avLst/>
          </a:prstGeom>
        </p:spPr>
      </p:pic>
      <p:pic>
        <p:nvPicPr>
          <p:cNvPr id="315378162" name=""/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>
            <a:off x="8035880" y="3031218"/>
            <a:ext cx="1914525" cy="6381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2794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Volume</a:t>
            </a:r>
            <a:r>
              <a:rPr sz="3200"/>
              <a:t> dan Velocity</a:t>
            </a:r>
            <a:endParaRPr sz="3200"/>
          </a:p>
        </p:txBody>
      </p:sp>
      <p:sp>
        <p:nvSpPr>
          <p:cNvPr id="135152815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5.408.255 paket (2025)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4.248.555 paket (2026)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7789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Variety</a:t>
            </a:r>
            <a:endParaRPr sz="3200"/>
          </a:p>
        </p:txBody>
      </p:sp>
      <p:sp>
        <p:nvSpPr>
          <p:cNvPr id="40378175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72673" y="1305059"/>
            <a:ext cx="11046649" cy="509413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id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Identitas unik atau nomor ID paket.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paket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Nama paket pengadaan.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uraianPekerjaan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Penjelasan detail mengenai apa yang akan dikerjakan.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spesifikasiPekerjaan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Syarat teknis atau standar kualitas pekerjaan.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volumePekerjaan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Jumlah atau kuantitas bobot pekerjaan.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jenisPengadaan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Kategori pengadaan (misal: Barang, Konstruksi, Jasa Konsultansi).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metode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Metode pemilihan penyedia (misal: Tender, Penunjukan Langsung, E-Purchasing).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dalamNegeri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Indikator apakah produk/jasa menggunakan komponen dalam negeri.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isUMKM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Status apakah paket diperuntukkan bagi usaha mikro, kecil, dan menengah.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pemilihanDate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Tanggal pelaksanaan pemilihan penyedia.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lembaga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Instansi, kementerian, atau lembaga negara yang menaungi.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satker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Satuan Kerja yang bertanggung jawab atas proyek tersebut.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lokasi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Lokasi geografis pelaksanaan pekerjaan.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ownerType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Tipe pemilik proyek atau entitas penanggung jawab.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pagu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Batas tertinggi anggaran yang dialokasikan (plafon anggaran).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sumberDana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Asal anggaran (misal: APBN, APBD, PHLN).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potensiPemborosan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Indikasi atau nilai potensi ketidakefisienan anggaran.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tags.isInappropriate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Tanda apakah paket dianggap tidak wajar atau tidak sesuai aturan.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tags.inappropriateReason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Alasan mengapa paket tersebut ditandai sebagai tidak wajar.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676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Variety</a:t>
            </a:r>
            <a:endParaRPr sz="3200"/>
          </a:p>
        </p:txBody>
      </p:sp>
      <p:pic>
        <p:nvPicPr>
          <p:cNvPr id="2036644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810" y="1417637"/>
            <a:ext cx="11712128" cy="33396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3481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Veracity</a:t>
            </a:r>
            <a:endParaRPr sz="3200"/>
          </a:p>
        </p:txBody>
      </p:sp>
      <p:sp>
        <p:nvSpPr>
          <p:cNvPr id="89156972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7" y="1600200"/>
            <a:ext cx="11046650" cy="452596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Banyak transaksi turunan yang tidak tercatat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Analisis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kewajaran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transaksi dari ChatGPT tidak dapat [secara hukum] menggantikan audit keuangan oleh akuntan/BPK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02300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Value</a:t>
            </a:r>
            <a:endParaRPr sz="3200"/>
          </a:p>
        </p:txBody>
      </p:sp>
      <p:sp>
        <p:nvSpPr>
          <p:cNvPr id="206002107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7" y="1600200"/>
            <a:ext cx="11046650" cy="452596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Akuntabilitas dana publik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(hayuk mari diskusi)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5719327" name=""/>
          <p:cNvPicPr>
            <a:picLocks noChangeAspect="1"/>
          </p:cNvPicPr>
          <p:nvPr/>
        </p:nvPicPr>
        <p:blipFill>
          <a:blip r:embed="rId3"/>
          <a:srcRect l="0" t="7840" r="0" b="9219"/>
          <a:stretch/>
        </p:blipFill>
        <p:spPr bwMode="auto">
          <a:xfrm flipH="0" flipV="0">
            <a:off x="348802" y="332952"/>
            <a:ext cx="3623555" cy="6192094"/>
          </a:xfrm>
          <a:prstGeom prst="rect">
            <a:avLst/>
          </a:prstGeom>
        </p:spPr>
      </p:pic>
      <p:pic>
        <p:nvPicPr>
          <p:cNvPr id="195281583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142390" y="332952"/>
            <a:ext cx="7879264" cy="51675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14</cp:revision>
  <dcterms:modified xsi:type="dcterms:W3CDTF">2026-05-06T07:41:25Z</dcterms:modified>
</cp:coreProperties>
</file>