
<file path=[Content_Types].xml><?xml version="1.0" encoding="utf-8"?>
<Types xmlns="http://schemas.openxmlformats.org/package/2006/content-types">
  <Default Extension="xml" ContentType="application/xml"/>
  <Default Extension="mp4" ContentType="video/unknown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39496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625000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8241540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0161177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34514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993955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047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144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40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731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9330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575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328655-01FB-60C9-329C-CD66B065BA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447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073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5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0B16E0-EEE9-6827-E841-33F6DDF17E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553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5957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928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3E15E6-B380-9FB8-0993-07F4597613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FC1D84-8A64-828B-1B7A-B886432A1E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844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7742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346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DF5F28-5D4C-BAAF-1274-FFBF1A993F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905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5612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96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15463E-5570-23CE-42EE-1310611A50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253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9037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0945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687CF-6AED-20D1-BA7D-F9F4BE8A0A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C51898-9A7A-6AC5-1CB2-FC2A545596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30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1586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984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DF32BF-A367-88F6-DE3B-EDA7F79D8A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217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653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861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4B6EB3-F627-34D4-6802-229ACE01D2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472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72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632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DDC1E-C0CD-C052-6756-8F8E379A3F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7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025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531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9C0D9E-475F-7B4C-EA5D-85E0018667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076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1303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723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1C9C07-38AD-0B3C-A5C5-080766C420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618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2265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68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D4E670-E0C4-5027-7D4B-87908A93F5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675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8975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40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F00373-118D-9EDD-7B07-34F8BD158D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131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256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368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CF76B-D38B-6B95-C9FB-6D9C077F4A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468640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39004452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16577032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51190889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04601143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18633273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0670048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653370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6831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98137727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9529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541660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341080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145197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69209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190946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701501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52036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525981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62333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6207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795155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251777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002664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518152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4162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5905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59742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197347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0412487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8492343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555615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4372364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146231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2091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041105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753135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5810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20438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7881680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0024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204954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20024788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352310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785372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247629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17753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759665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2208343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451896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007812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811693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4734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167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9680352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04308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526806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486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36767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383635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62005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812343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7751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66978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91826720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49194403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4519775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667944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99683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7149661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94631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microsoft.com/office/2007/relationships/media" Target="../media/media1.mp4"/><Relationship Id="rId5" Type="http://schemas.openxmlformats.org/officeDocument/2006/relationships/video" Target="../media/media1.mp4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hyperlink" Target="https://github.com/assai-id/nemesis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898643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02049" y="2381248"/>
            <a:ext cx="10781226" cy="193834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 dalam: </a:t>
            </a:r>
            <a:r>
              <a:rPr lang="en-US" sz="4800" i="1"/>
              <a:t>Pengadaan</a:t>
            </a:r>
            <a:endParaRPr sz="4800"/>
          </a:p>
        </p:txBody>
      </p:sp>
      <p:sp>
        <p:nvSpPr>
          <p:cNvPr id="192729607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4762517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/>
        </p:blipFill>
        <p:spPr bwMode="auto">
          <a:xfrm flipH="0" flipV="0">
            <a:off x="2577147" y="146197"/>
            <a:ext cx="6358943" cy="6358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794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18485" y="264093"/>
            <a:ext cx="9659154" cy="6195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27320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68450" y="402464"/>
            <a:ext cx="62483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04894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112" y="335387"/>
            <a:ext cx="12045775" cy="5808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6102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4647" y="174401"/>
            <a:ext cx="11654181" cy="6426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42602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1531" y="215588"/>
            <a:ext cx="8833092" cy="5687228"/>
          </a:xfrm>
          <a:prstGeom prst="rect">
            <a:avLst/>
          </a:prstGeom>
        </p:spPr>
      </p:pic>
      <p:sp>
        <p:nvSpPr>
          <p:cNvPr id="1052576434" name=""/>
          <p:cNvSpPr txBox="1"/>
          <p:nvPr/>
        </p:nvSpPr>
        <p:spPr bwMode="auto">
          <a:xfrm rot="0" flipH="0" flipV="0">
            <a:off x="9861760" y="215588"/>
            <a:ext cx="2013434" cy="8233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Sumber data:</a:t>
            </a:r>
            <a:endParaRPr sz="2400"/>
          </a:p>
          <a:p>
            <a:pPr>
              <a:defRPr/>
            </a:pPr>
            <a:r>
              <a:rPr sz="2400"/>
              <a:t>INAPROC</a:t>
            </a:r>
            <a:endParaRPr sz="2400"/>
          </a:p>
        </p:txBody>
      </p:sp>
      <p:pic>
        <p:nvPicPr>
          <p:cNvPr id="1183518666" name=""/>
          <p:cNvPicPr>
            <a:picLocks noChangeAspect="1"/>
          </p:cNvPicPr>
          <p:nvPr/>
        </p:nvPicPr>
        <p:blipFill>
          <a:blip r:embed="rId4"/>
          <a:srcRect l="0" t="0" r="0" b="5042"/>
          <a:stretch/>
        </p:blipFill>
        <p:spPr bwMode="auto">
          <a:xfrm flipH="0" flipV="0">
            <a:off x="8424929" y="1274471"/>
            <a:ext cx="3762374" cy="4802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25711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74" y="215588"/>
            <a:ext cx="11626535" cy="5606735"/>
          </a:xfrm>
          <a:prstGeom prst="rect">
            <a:avLst/>
          </a:prstGeom>
        </p:spPr>
      </p:pic>
      <p:sp>
        <p:nvSpPr>
          <p:cNvPr id="413391217" name=""/>
          <p:cNvSpPr txBox="1"/>
          <p:nvPr/>
        </p:nvSpPr>
        <p:spPr bwMode="auto">
          <a:xfrm rot="0" flipH="0" flipV="0">
            <a:off x="9378802" y="389989"/>
            <a:ext cx="2013434" cy="8233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Sumber data:</a:t>
            </a:r>
            <a:endParaRPr sz="2400"/>
          </a:p>
          <a:p>
            <a:pPr>
              <a:defRPr/>
            </a:pPr>
            <a:r>
              <a:rPr sz="2400"/>
              <a:t>INAPROC</a:t>
            </a:r>
            <a:endParaRPr sz="2400"/>
          </a:p>
        </p:txBody>
      </p:sp>
      <p:sp>
        <p:nvSpPr>
          <p:cNvPr id="1706492590" name=""/>
          <p:cNvSpPr txBox="1"/>
          <p:nvPr/>
        </p:nvSpPr>
        <p:spPr bwMode="auto">
          <a:xfrm rot="0" flipH="0" flipV="0">
            <a:off x="9137323" y="5975663"/>
            <a:ext cx="3114301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ini pakai streamlit, lho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1956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19" y="867619"/>
            <a:ext cx="11845643" cy="3465585"/>
          </a:xfrm>
          <a:prstGeom prst="rect">
            <a:avLst/>
          </a:prstGeom>
        </p:spPr>
      </p:pic>
      <p:pic>
        <p:nvPicPr>
          <p:cNvPr id="153828506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7570" y="4427112"/>
            <a:ext cx="11849013" cy="1676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43957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46549" y="112062"/>
            <a:ext cx="9887218" cy="6696408"/>
          </a:xfrm>
          <a:prstGeom prst="rect">
            <a:avLst/>
          </a:prstGeom>
        </p:spPr>
      </p:pic>
      <p:sp>
        <p:nvSpPr>
          <p:cNvPr id="1434223223" name=""/>
          <p:cNvSpPr txBox="1"/>
          <p:nvPr/>
        </p:nvSpPr>
        <p:spPr bwMode="auto">
          <a:xfrm rot="0" flipH="0" flipV="0">
            <a:off x="9861760" y="215588"/>
            <a:ext cx="2013434" cy="8233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Sumber data:</a:t>
            </a:r>
            <a:endParaRPr sz="2400"/>
          </a:p>
          <a:p>
            <a:pPr>
              <a:defRPr/>
            </a:pPr>
            <a:r>
              <a:rPr sz="2400"/>
              <a:t>INAPROC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10376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8063" y="53661"/>
            <a:ext cx="7594542" cy="5955113"/>
          </a:xfrm>
          <a:prstGeom prst="rect">
            <a:avLst/>
          </a:prstGeom>
        </p:spPr>
      </p:pic>
      <p:sp>
        <p:nvSpPr>
          <p:cNvPr id="1476241244" name=""/>
          <p:cNvSpPr txBox="1"/>
          <p:nvPr/>
        </p:nvSpPr>
        <p:spPr bwMode="auto">
          <a:xfrm rot="0" flipH="0" flipV="0">
            <a:off x="1120433" y="6197528"/>
            <a:ext cx="6099194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 u="sng">
                <a:hlinkClick r:id="rId4" tooltip=""/>
              </a:rPr>
              <a:t>https://github.com/assai-id/nemesis</a:t>
            </a:r>
            <a:r>
              <a:rPr sz="2400"/>
              <a:t> </a:t>
            </a:r>
            <a:endParaRPr sz="2400"/>
          </a:p>
        </p:txBody>
      </p:sp>
      <p:pic>
        <p:nvPicPr>
          <p:cNvPr id="197327310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035880" y="107323"/>
            <a:ext cx="2438399" cy="676274"/>
          </a:xfrm>
          <a:prstGeom prst="rect">
            <a:avLst/>
          </a:prstGeom>
        </p:spPr>
      </p:pic>
      <p:pic>
        <p:nvPicPr>
          <p:cNvPr id="2724386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035880" y="912253"/>
            <a:ext cx="2447924" cy="533399"/>
          </a:xfrm>
          <a:prstGeom prst="rect">
            <a:avLst/>
          </a:prstGeom>
        </p:spPr>
      </p:pic>
      <p:pic>
        <p:nvPicPr>
          <p:cNvPr id="156114187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8035880" y="1609858"/>
            <a:ext cx="1981199" cy="561974"/>
          </a:xfrm>
          <a:prstGeom prst="rect">
            <a:avLst/>
          </a:prstGeom>
        </p:spPr>
      </p:pic>
      <p:pic>
        <p:nvPicPr>
          <p:cNvPr id="403570090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8045405" y="2307464"/>
            <a:ext cx="1962149" cy="533399"/>
          </a:xfrm>
          <a:prstGeom prst="rect">
            <a:avLst/>
          </a:prstGeom>
        </p:spPr>
      </p:pic>
      <p:pic>
        <p:nvPicPr>
          <p:cNvPr id="2079274621" name="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8035880" y="3031218"/>
            <a:ext cx="1914525" cy="638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598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Volume</a:t>
            </a:r>
            <a:r>
              <a:rPr sz="3200"/>
              <a:t> dan Velocity</a:t>
            </a:r>
            <a:endParaRPr sz="3200"/>
          </a:p>
        </p:txBody>
      </p:sp>
      <p:sp>
        <p:nvSpPr>
          <p:cNvPr id="59240715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600200"/>
            <a:ext cx="1104665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5.408.255 paket (2025)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4.248.555 paket (2026)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644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Variety</a:t>
            </a:r>
            <a:endParaRPr sz="3200"/>
          </a:p>
        </p:txBody>
      </p:sp>
      <p:sp>
        <p:nvSpPr>
          <p:cNvPr id="4653990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72673" y="1305059"/>
            <a:ext cx="11046649" cy="50941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Identitas unik atau nomor ID paket.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paket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Nama paket pengadaan.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uraianPekerjaan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Penjelasan detail mengenai apa yang akan dikerjakan.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spesifikasiPekerjaan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Syarat teknis atau standar kualitas pekerjaan.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volumePekerjaan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Jumlah atau kuantitas bobot pekerjaan.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jenisPengadaan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Kategori pengadaan (misal: Barang, Konstruksi, Jasa Konsultansi).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metode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Metode pemilihan penyedia (misal: Tender, Penunjukan Langsung, E-Purchasing).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dalamNegeri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Indikator apakah produk/jasa menggunakan komponen dalam negeri.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isUMKM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Status apakah paket diperuntukkan bagi usaha mikro, kecil, dan menengah.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pemilihanDate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Tanggal pelaksanaan pemilihan penyedia.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lembaga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Instansi, kementerian, atau lembaga negara yang menaungi.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satker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Satuan Kerja yang bertanggung jawab atas proyek tersebut.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lokasi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Lokasi geografis pelaksanaan pekerjaan.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ownerType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Tipe pemilik proyek atau entitas penanggung jawab.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pagu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Batas tertinggi anggaran yang dialokasikan (plafon anggaran).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sumberDana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Asal anggaran (misal: APBN, APBD, PHLN).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potensiPemborosan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Indikasi atau nilai potensi ketidakefisienan anggaran.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tags.isInappropriate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Tanda apakah paket dianggap tidak wajar atau tidak sesuai aturan.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tags.inappropriateReason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Alasan mengapa paket tersebut ditandai sebagai tidak wajar.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0681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Variety</a:t>
            </a:r>
            <a:endParaRPr sz="3200"/>
          </a:p>
        </p:txBody>
      </p:sp>
      <p:pic>
        <p:nvPicPr>
          <p:cNvPr id="593539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810" y="1417637"/>
            <a:ext cx="11712128" cy="33396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7410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Veracity</a:t>
            </a:r>
            <a:endParaRPr sz="3200"/>
          </a:p>
        </p:txBody>
      </p:sp>
      <p:sp>
        <p:nvSpPr>
          <p:cNvPr id="50178354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1600200"/>
            <a:ext cx="11046650" cy="45259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Banyak transaksi turunan yang tidak tercatat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Analisis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kewajaran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transaksi dari ChatGPT tidak dapat [secara hukum] menggantikan audit keuangan oleh akuntan/BPK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8914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Value</a:t>
            </a:r>
            <a:endParaRPr sz="3200"/>
          </a:p>
        </p:txBody>
      </p:sp>
      <p:sp>
        <p:nvSpPr>
          <p:cNvPr id="15058976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1600200"/>
            <a:ext cx="11046650" cy="45259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Akuntabilitas dana publik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(hayuk mari diskusi)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2230659" name=""/>
          <p:cNvPicPr>
            <a:picLocks noChangeAspect="1"/>
          </p:cNvPicPr>
          <p:nvPr/>
        </p:nvPicPr>
        <p:blipFill>
          <a:blip r:embed="rId3"/>
          <a:srcRect l="0" t="7840" r="0" b="9220"/>
          <a:stretch/>
        </p:blipFill>
        <p:spPr bwMode="auto">
          <a:xfrm flipH="0" flipV="0">
            <a:off x="348802" y="332952"/>
            <a:ext cx="3623556" cy="6192094"/>
          </a:xfrm>
          <a:prstGeom prst="rect">
            <a:avLst/>
          </a:prstGeom>
        </p:spPr>
      </p:pic>
      <p:pic>
        <p:nvPicPr>
          <p:cNvPr id="172311292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142390" y="332952"/>
            <a:ext cx="7879264" cy="51675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modified xsi:type="dcterms:W3CDTF">2026-05-06T01:01:02Z</dcterms:modified>
</cp:coreProperties>
</file>