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 /><Relationship Id="rId17" Type="http://schemas.openxmlformats.org/officeDocument/2006/relationships/tableStyles" Target="tableStyles.xml" /><Relationship Id="rId1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051995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3982209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70325871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77838184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7186222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17524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2540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59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16904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46716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6752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CAC215-DFC8-02C2-50DC-486822E506F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161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3691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846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37DDC1E-C0CD-C052-6756-8F8E379A3F0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8054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7021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8379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30B4E3-1B01-1754-A4DD-7D9C78C141F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30386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65851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947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FE1BA8-37E3-5594-DEC3-A985DCAD4A7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10291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581495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822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5796CC-76F4-6E29-85C1-774CAF56B15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91201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956454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834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C26038-00CE-E995-98B5-0EE780C520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12341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614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31200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FE85033-81D1-A3C0-0457-66589181DC3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6108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116838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55000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A3E0DB-41F8-4563-7802-0B8AEEDA4D0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8077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544577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301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AD8795-E035-1DDE-217C-16D90C9744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46649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19405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7108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CFFFFB6-1458-B34C-C4F0-21C5F8DE2E4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45935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24391317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543873083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662660944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45344599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770231355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3600352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62297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38705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570622097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323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9059334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93047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379808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25020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303820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0909378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89518820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6861159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3774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7775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229303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2843699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8505056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2217661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302090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12916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1269760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9271678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16152882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63400526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2266447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0438227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868921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33991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795374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4386352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405861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097250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1920194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1620448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012293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97841417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3359779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4766847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18819690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36450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693258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1981728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167999501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1175154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415402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52425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02503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13037575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821205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61202770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779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5963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50661729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84578786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778976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41457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4353029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68388513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308008157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58892202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5126558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28327118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9193724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81432630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ics.2004.05.052" TargetMode="External"/><Relationship Id="rId6" Type="http://schemas.openxmlformats.org/officeDocument/2006/relationships/hyperlink" Target="https://www.clinicalguidelines.scot.nhs.uk/ggc-paediatric-guidelines/ggc-paediatric-guidelines/anaesthetics/near-infrared-spectroscopy-nirs-guideline-1072/" TargetMode="External"/><Relationship Id="rId7" Type="http://schemas.openxmlformats.org/officeDocument/2006/relationships/image" Target="../media/image9.png"/><Relationship Id="rId8" Type="http://schemas.openxmlformats.org/officeDocument/2006/relationships/hyperlink" Target="https://www.artinis.com/nirs-eeg-package" TargetMode="Externa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openneuro.org/datasets/ds005207/versions/1.0.0" TargetMode="External"/><Relationship Id="rId4" Type="http://schemas.openxmlformats.org/officeDocument/2006/relationships/hyperlink" Target="https://github.com/OpenNeuroDatasets/ds005207" TargetMode="External"/><Relationship Id="rId5" Type="http://schemas.openxmlformats.org/officeDocument/2006/relationships/image" Target="../media/image10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onlinelibrary.wiley.com/doi/10.1111/jsr.12786" TargetMode="External"/><Relationship Id="rId4" Type="http://schemas.openxmlformats.org/officeDocument/2006/relationships/image" Target="../media/image12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97422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802049" y="2381248"/>
            <a:ext cx="10781226" cy="1938348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800"/>
              <a:t>Big Data: </a:t>
            </a:r>
            <a:r>
              <a:rPr lang="en-US" sz="4800" b="1"/>
              <a:t>[otak kita butuh] Tidur</a:t>
            </a:r>
            <a:endParaRPr sz="4800"/>
          </a:p>
        </p:txBody>
      </p:sp>
      <p:sp>
        <p:nvSpPr>
          <p:cNvPr id="984204189" name=""/>
          <p:cNvSpPr txBox="1"/>
          <p:nvPr/>
        </p:nvSpPr>
        <p:spPr bwMode="auto">
          <a:xfrm rot="0" flipH="0" flipV="0">
            <a:off x="8175183" y="6395719"/>
            <a:ext cx="3868032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https://github.com/jendralhxr/bigdata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335308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87816" y="201232"/>
            <a:ext cx="7664109" cy="3447781"/>
          </a:xfrm>
          <a:prstGeom prst="rect">
            <a:avLst/>
          </a:prstGeom>
        </p:spPr>
      </p:pic>
      <p:pic>
        <p:nvPicPr>
          <p:cNvPr id="100988313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99124" y="4152331"/>
            <a:ext cx="10822349" cy="1638868"/>
          </a:xfrm>
          <a:prstGeom prst="rect">
            <a:avLst/>
          </a:prstGeom>
        </p:spPr>
      </p:pic>
      <p:sp>
        <p:nvSpPr>
          <p:cNvPr id="1526206682" name=""/>
          <p:cNvSpPr txBox="1"/>
          <p:nvPr/>
        </p:nvSpPr>
        <p:spPr bwMode="auto">
          <a:xfrm rot="0" flipH="0" flipV="0">
            <a:off x="7984983" y="3131820"/>
            <a:ext cx="2356131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https://openneuro.org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310468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Instumentasi akuisisi sekitaran kepala</a:t>
            </a:r>
            <a:endParaRPr sz="3200"/>
          </a:p>
        </p:txBody>
      </p:sp>
      <p:sp>
        <p:nvSpPr>
          <p:cNvPr id="158165969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1600200"/>
            <a:ext cx="11046650" cy="452596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MRI (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magnetic resonance imaging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PET (positron emission tomography)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MEG (magnetoencephalography)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EEG (electro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encephalography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iEEG (intracranial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electro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encephalography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NIRS (near infrared spectroscopy)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612105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050449" y="2649683"/>
            <a:ext cx="4902800" cy="4084490"/>
          </a:xfrm>
          <a:prstGeom prst="rect">
            <a:avLst/>
          </a:prstGeom>
        </p:spPr>
      </p:pic>
      <p:sp>
        <p:nvSpPr>
          <p:cNvPr id="2218583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MRI</a:t>
            </a:r>
            <a:endParaRPr sz="3200"/>
          </a:p>
        </p:txBody>
      </p:sp>
      <p:sp>
        <p:nvSpPr>
          <p:cNvPr id="356752250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Menembakkan medan magnet </a:t>
            </a:r>
            <a:r>
              <a:rPr b="0"/>
              <a:t>BUUUESAR</a:t>
            </a:r>
            <a:endParaRPr b="0"/>
          </a:p>
          <a:p>
            <a:pPr>
              <a:defRPr/>
            </a:pPr>
            <a:r>
              <a:rPr/>
              <a:t>Mengukur scan propagasi radial medan magnet, konsentrasi air (atau agen kontras)</a:t>
            </a:r>
            <a:endParaRPr/>
          </a:p>
          <a:p>
            <a:pPr>
              <a:defRPr/>
            </a:pPr>
            <a:r>
              <a:rPr/>
              <a:t>oven microwave </a:t>
            </a:r>
            <a:endParaRPr/>
          </a:p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7710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PET/CT scan</a:t>
            </a:r>
            <a:endParaRPr sz="3200"/>
          </a:p>
        </p:txBody>
      </p:sp>
      <p:sp>
        <p:nvSpPr>
          <p:cNvPr id="24844430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Menangkap citra dari gelombang gamma (PET) atau Rontgen/X-ray (CT)</a:t>
            </a:r>
            <a:endParaRPr/>
          </a:p>
          <a:p>
            <a:pPr>
              <a:defRPr/>
            </a:pPr>
            <a:r>
              <a:rPr/>
              <a:t>Bisa diperkuat dengan kontras agen radioaktif (memancarkan positron)</a:t>
            </a:r>
            <a:endParaRPr/>
          </a:p>
        </p:txBody>
      </p:sp>
      <p:pic>
        <p:nvPicPr>
          <p:cNvPr id="74056396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52499" y="3916362"/>
            <a:ext cx="4946762" cy="27701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69947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EEG</a:t>
            </a:r>
            <a:endParaRPr sz="3200"/>
          </a:p>
        </p:txBody>
      </p:sp>
      <p:pic>
        <p:nvPicPr>
          <p:cNvPr id="843310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9649" y="1169987"/>
            <a:ext cx="3143250" cy="4762499"/>
          </a:xfrm>
          <a:prstGeom prst="rect">
            <a:avLst/>
          </a:prstGeom>
        </p:spPr>
      </p:pic>
      <p:sp>
        <p:nvSpPr>
          <p:cNvPr id="2115780756" name=""/>
          <p:cNvSpPr txBox="1"/>
          <p:nvPr/>
        </p:nvSpPr>
        <p:spPr bwMode="auto">
          <a:xfrm rot="0" flipH="0" flipV="0">
            <a:off x="103983" y="6236969"/>
            <a:ext cx="5430833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https://onlinelibrary.wiley.com/doi/10.1111/jsr.12786</a:t>
            </a:r>
            <a:endParaRPr/>
          </a:p>
        </p:txBody>
      </p:sp>
      <p:pic>
        <p:nvPicPr>
          <p:cNvPr id="13723397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4419599" y="1169987"/>
            <a:ext cx="4552949" cy="4762499"/>
          </a:xfrm>
          <a:prstGeom prst="rect">
            <a:avLst/>
          </a:prstGeom>
        </p:spPr>
      </p:pic>
      <p:sp>
        <p:nvSpPr>
          <p:cNvPr id="288237966" name="Title 1"/>
          <p:cNvSpPr>
            <a:spLocks noGrp="1"/>
          </p:cNvSpPr>
          <p:nvPr/>
        </p:nvSpPr>
        <p:spPr bwMode="auto">
          <a:xfrm>
            <a:off x="9353548" y="4941887"/>
            <a:ext cx="10972800" cy="1143000"/>
          </a:xfrm>
        </p:spPr>
        <p:txBody>
          <a:bodyPr vert="horz" lIns="91440" tIns="45720" rIns="91440" bIns="45720" rtlCol="0" anchor="ctr">
            <a:normAutofit/>
          </a:bodyPr>
          <a:lstStyle>
            <a:lvl1pPr algn="r" defTabSz="914400" rtl="0">
              <a:spcBef>
                <a:spcPts val="0"/>
              </a:spcBef>
              <a:buNone/>
              <a:defRPr sz="440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/>
            </a:pPr>
            <a:r>
              <a:rPr sz="3200"/>
              <a:t>Intracranial?</a:t>
            </a:r>
            <a:endParaRPr sz="3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9446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NIRS (near-infrared, aliran darah</a:t>
            </a:r>
            <a:r>
              <a:rPr sz="3200"/>
              <a:t>)</a:t>
            </a:r>
            <a:endParaRPr sz="3200"/>
          </a:p>
        </p:txBody>
      </p:sp>
      <p:pic>
        <p:nvPicPr>
          <p:cNvPr id="1625881089" name=""/>
          <p:cNvPicPr>
            <a:picLocks noChangeAspect="1"/>
          </p:cNvPicPr>
          <p:nvPr/>
        </p:nvPicPr>
        <p:blipFill>
          <a:blip r:embed="rId3"/>
          <a:srcRect l="0" t="5750" r="31123" b="0"/>
          <a:stretch/>
        </p:blipFill>
        <p:spPr bwMode="auto">
          <a:xfrm flipH="0" flipV="0">
            <a:off x="7238999" y="1127125"/>
            <a:ext cx="4643317" cy="2828925"/>
          </a:xfrm>
          <a:prstGeom prst="rect">
            <a:avLst/>
          </a:prstGeom>
        </p:spPr>
      </p:pic>
      <p:pic>
        <p:nvPicPr>
          <p:cNvPr id="156050227" name=""/>
          <p:cNvPicPr>
            <a:picLocks noChangeAspect="1"/>
          </p:cNvPicPr>
          <p:nvPr/>
        </p:nvPicPr>
        <p:blipFill>
          <a:blip r:embed="rId4"/>
          <a:srcRect l="27274" t="0" r="2136" b="5215"/>
          <a:stretch/>
        </p:blipFill>
        <p:spPr bwMode="auto">
          <a:xfrm flipH="0" flipV="0">
            <a:off x="1904726" y="4357370"/>
            <a:ext cx="3716973" cy="2157909"/>
          </a:xfrm>
          <a:prstGeom prst="rect">
            <a:avLst/>
          </a:prstGeom>
        </p:spPr>
      </p:pic>
      <p:sp>
        <p:nvSpPr>
          <p:cNvPr id="15124713" name=""/>
          <p:cNvSpPr/>
          <p:nvPr/>
        </p:nvSpPr>
        <p:spPr bwMode="auto">
          <a:xfrm>
            <a:off x="9086850" y="4096840"/>
            <a:ext cx="2873525" cy="3661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u="sng">
                <a:hlinkClick r:id="rId5" tooltip=""/>
              </a:rPr>
              <a:t>10.1016/j.ics.2004.05.052</a:t>
            </a:r>
            <a:endParaRPr/>
          </a:p>
        </p:txBody>
      </p:sp>
      <p:sp>
        <p:nvSpPr>
          <p:cNvPr id="1963528375" name=""/>
          <p:cNvSpPr txBox="1"/>
          <p:nvPr/>
        </p:nvSpPr>
        <p:spPr bwMode="auto">
          <a:xfrm rot="0" flipH="0" flipV="0">
            <a:off x="5844638" y="6275070"/>
            <a:ext cx="499960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u="sng">
                <a:hlinkClick r:id="rId6" tooltip=""/>
              </a:rPr>
              <a:t>near-infrared-spectroscopy-guideline-1072</a:t>
            </a:r>
            <a:endParaRPr/>
          </a:p>
        </p:txBody>
      </p:sp>
      <p:pic>
        <p:nvPicPr>
          <p:cNvPr id="67681535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379197" y="1081405"/>
            <a:ext cx="4796782" cy="3198494"/>
          </a:xfrm>
          <a:prstGeom prst="rect">
            <a:avLst/>
          </a:prstGeom>
        </p:spPr>
      </p:pic>
      <p:sp>
        <p:nvSpPr>
          <p:cNvPr id="2133384427" name=""/>
          <p:cNvSpPr txBox="1"/>
          <p:nvPr/>
        </p:nvSpPr>
        <p:spPr bwMode="auto">
          <a:xfrm rot="0" flipH="0" flipV="0">
            <a:off x="5895832" y="5817869"/>
            <a:ext cx="4363093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u="sng">
                <a:hlinkClick r:id="rId8" tooltip=""/>
              </a:rPr>
              <a:t>https://www.artinis.com/nirs-eeg-package</a:t>
            </a:r>
            <a:r>
              <a:rPr/>
              <a:t> 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83975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https://openneuro.org/datasets/ds005207/versions/1.0.0</a:t>
            </a:r>
            <a:br>
              <a:rPr sz="3200"/>
            </a:b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4" tooltip=""/>
              </a:rPr>
              <a:t>https://github.com/OpenNeuroDatasets/ds005207</a:t>
            </a:r>
            <a:endParaRPr sz="3200"/>
          </a:p>
        </p:txBody>
      </p:sp>
      <p:pic>
        <p:nvPicPr>
          <p:cNvPr id="37236489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1795461" y="2519087"/>
            <a:ext cx="5864145" cy="3909430"/>
          </a:xfrm>
          <a:prstGeom prst="rect">
            <a:avLst/>
          </a:prstGeom>
        </p:spPr>
      </p:pic>
      <p:sp>
        <p:nvSpPr>
          <p:cNvPr id="1800729626" name=""/>
          <p:cNvSpPr/>
          <p:nvPr/>
        </p:nvSpPr>
        <p:spPr bwMode="auto">
          <a:xfrm flipH="0" flipV="0">
            <a:off x="533743" y="1570037"/>
            <a:ext cx="10937025" cy="10061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Some recordings are full </a:t>
            </a:r>
            <a:r>
              <a:rPr sz="20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polysomnography 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measurements, others are  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c</a:t>
            </a:r>
            <a:r>
              <a:rPr sz="2000" b="1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EEG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rid</a:t>
            </a:r>
            <a:r>
              <a:rPr sz="2000" b="0" i="1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 measurements. Most subjects have both PSG and ceegrid recordings  from the same night, though a few are missing one or the other.</a:t>
            </a:r>
            <a:endParaRPr sz="2000" i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18482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Volume, Velocity</a:t>
            </a:r>
            <a:endParaRPr sz="3200"/>
          </a:p>
        </p:txBody>
      </p:sp>
      <p:pic>
        <p:nvPicPr>
          <p:cNvPr id="9818555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38149" y="1485900"/>
            <a:ext cx="11246126" cy="590549"/>
          </a:xfrm>
          <a:prstGeom prst="rect">
            <a:avLst/>
          </a:prstGeom>
        </p:spPr>
      </p:pic>
      <p:sp>
        <p:nvSpPr>
          <p:cNvPr id="47479232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7" y="2343150"/>
            <a:ext cx="11046649" cy="378301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20 responden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, 29 ‘sesi’ tidur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\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Tiap orang tiap malam tidur</a:t>
            </a:r>
            <a:endParaRPr lang="en-US" sz="3200" b="0" i="0" u="none" strike="noStrike" cap="none" spc="0">
              <a:solidFill>
                <a:schemeClr val="tx1">
                  <a:lumMod val="75000"/>
                  <a:lumOff val="25000"/>
                </a:schemeClr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8623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Variety</a:t>
            </a:r>
            <a:r>
              <a:rPr sz="3200"/>
              <a:t>, Veracity </a:t>
            </a:r>
            <a:r>
              <a:rPr lang="en-US" sz="3200" b="0" i="0" u="sng" strike="noStrike" cap="none" spc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hlinkClick r:id="rId3" tooltip=""/>
              </a:rPr>
              <a:t>https://onlinelibrary.wiley.com/doi/10.1111/jsr.12786</a:t>
            </a:r>
            <a:r>
              <a:rPr sz="3200"/>
              <a:t> </a:t>
            </a:r>
            <a:endParaRPr sz="3200"/>
          </a:p>
        </p:txBody>
      </p:sp>
      <p:sp>
        <p:nvSpPr>
          <p:cNvPr id="1684802071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256 Hz sample</a:t>
            </a:r>
            <a:endParaRPr/>
          </a:p>
          <a:p>
            <a:pPr>
              <a:defRPr/>
            </a:pPr>
            <a:r>
              <a:rPr/>
              <a:t>Band </a:t>
            </a:r>
            <a:r>
              <a:rPr lang="en-US" sz="3200" b="0" i="0" u="none" strike="noStrike" cap="none" spc="0">
                <a:solidFill>
                  <a:schemeClr val="tx1">
                    <a:lumMod val="75000"/>
                    <a:lumOff val="25000"/>
                  </a:schemeClr>
                </a:solidFill>
                <a:latin typeface="Arial"/>
                <a:ea typeface="Arial"/>
                <a:cs typeface="Arial"/>
              </a:rPr>
              <a:t>alpha (8–16 Hz), beta (16–32 Hz), theta (4–8 Hz) and delta (1–4 Hz)</a:t>
            </a:r>
            <a:endParaRPr/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sp>
        <p:nvSpPr>
          <p:cNvPr id="1527687065" name=""/>
          <p:cNvSpPr txBox="1"/>
          <p:nvPr/>
        </p:nvSpPr>
        <p:spPr bwMode="auto">
          <a:xfrm rot="0" flipH="0" flipV="0">
            <a:off x="1131191" y="3548062"/>
            <a:ext cx="6089518" cy="26521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 sz="1400"/>
              <a:t>Feature 	Short description</a:t>
            </a:r>
            <a:endParaRPr sz="1400"/>
          </a:p>
          <a:p>
            <a:pPr algn="l">
              <a:defRPr/>
            </a:pPr>
            <a:r>
              <a:rPr sz="1400"/>
              <a:t>F1 	Signal skewness 	EEG time domain</a:t>
            </a:r>
            <a:endParaRPr sz="1400"/>
          </a:p>
          <a:p>
            <a:pPr algn="l">
              <a:defRPr/>
            </a:pPr>
            <a:r>
              <a:rPr sz="1400"/>
              <a:t>F2 	Signal kurtosis 	</a:t>
            </a:r>
            <a:endParaRPr sz="1400"/>
          </a:p>
          <a:p>
            <a:pPr algn="l">
              <a:defRPr/>
            </a:pPr>
            <a:r>
              <a:rPr sz="1400"/>
              <a:t>F3 	Zero crossing rate 	</a:t>
            </a:r>
            <a:endParaRPr sz="1400"/>
          </a:p>
          <a:p>
            <a:pPr algn="l">
              <a:defRPr/>
            </a:pPr>
            <a:r>
              <a:rPr sz="1400"/>
              <a:t>...</a:t>
            </a:r>
            <a:endParaRPr sz="1400"/>
          </a:p>
          <a:p>
            <a:pPr algn="l">
              <a:defRPr/>
            </a:pPr>
            <a:r>
              <a:rPr sz="1400"/>
              <a:t>F27 	Peak power frequency 	</a:t>
            </a:r>
            <a:endParaRPr sz="1400"/>
          </a:p>
          <a:p>
            <a:pPr algn="l">
              <a:defRPr/>
            </a:pPr>
            <a:r>
              <a:rPr sz="1400"/>
              <a:t>F28 	Spectral entropy 	</a:t>
            </a:r>
            <a:endParaRPr sz="1400"/>
          </a:p>
          <a:p>
            <a:pPr algn="l">
              <a:defRPr/>
            </a:pPr>
            <a:r>
              <a:rPr sz="1400"/>
              <a:t>F29 	Spindle probability 	Sleep event proxies</a:t>
            </a:r>
            <a:endParaRPr sz="1400"/>
          </a:p>
          <a:p>
            <a:pPr algn="l">
              <a:defRPr/>
            </a:pPr>
            <a:r>
              <a:rPr sz="1400"/>
              <a:t>F30 	Frequency stationarity 	</a:t>
            </a:r>
            <a:endParaRPr sz="1400"/>
          </a:p>
          <a:p>
            <a:pPr algn="l">
              <a:defRPr/>
            </a:pPr>
            <a:r>
              <a:rPr sz="1400"/>
              <a:t>F31 	Lowest adj. frequency similarity 	</a:t>
            </a:r>
            <a:endParaRPr sz="1400"/>
          </a:p>
          <a:p>
            <a:pPr algn="l">
              <a:defRPr/>
            </a:pPr>
            <a:r>
              <a:rPr sz="1400"/>
              <a:t>F32 	Largest CWT value 	</a:t>
            </a:r>
            <a:endParaRPr sz="1400"/>
          </a:p>
          <a:p>
            <a:pPr algn="l">
              <a:defRPr/>
            </a:pPr>
            <a:r>
              <a:rPr sz="1400"/>
              <a:t>F33 	Longest sleep spindle</a:t>
            </a:r>
            <a:endParaRPr sz="1400"/>
          </a:p>
        </p:txBody>
      </p:sp>
      <p:pic>
        <p:nvPicPr>
          <p:cNvPr id="86485676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1160" y="2948619"/>
            <a:ext cx="4656949" cy="36236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7218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 algn="l">
              <a:defRPr/>
            </a:pPr>
            <a:r>
              <a:rPr sz="3200"/>
              <a:t>Value</a:t>
            </a:r>
            <a:r>
              <a:rPr sz="3200"/>
              <a:t>: tidur nyenyak berapa lama?</a:t>
            </a:r>
            <a:endParaRPr sz="3200"/>
          </a:p>
        </p:txBody>
      </p:sp>
      <p:pic>
        <p:nvPicPr>
          <p:cNvPr id="7771401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33408" y="1200149"/>
            <a:ext cx="6489069" cy="54292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12</cp:revision>
  <dcterms:modified xsi:type="dcterms:W3CDTF">2026-04-29T04:42:48Z</dcterms:modified>
</cp:coreProperties>
</file>