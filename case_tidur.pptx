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5495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276998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80532973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051280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267102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1174803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183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9828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3937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71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6752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CAC215-DFC8-02C2-50DC-486822E506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2264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7349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2488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805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021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837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30B4E3-1B01-1754-A4DD-7D9C78C141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038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585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947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FE1BA8-37E3-5594-DEC3-A985DCAD4A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1029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8149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82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5796CC-76F4-6E29-85C1-774CAF56B1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120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5645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834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C26038-00CE-E995-98B5-0EE780C520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234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14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120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E85033-81D1-A3C0-0457-66589181DC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108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683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5500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A3E0DB-41F8-4563-7802-0B8AEEDA4D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807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457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301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D8795-E035-1DDE-217C-16D90C9744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64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9405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710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FFFFB6-1458-B34C-C4F0-21C5F8DE2E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6364263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58961959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49276358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7654408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87134880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68014166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8651320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265270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9347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86121881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048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0304600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899729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6162129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8183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812322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123181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640485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246714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29892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78574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9288330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4051074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498165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6147602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0475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54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890181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6269713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160835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3926518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5848038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6385449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98001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8528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5269234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2055124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418439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91197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6856708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94821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391444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13604538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389301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788924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902081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3993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78094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133151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7132436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984880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356473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887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321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362878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7512195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340400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319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43166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5423390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47742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579003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8714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938173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7389954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0613736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34891356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1795564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360642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4680332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01738084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penneuro.org/datasets/ds005207/versions/1.0.0" TargetMode="External"/><Relationship Id="rId4" Type="http://schemas.openxmlformats.org/officeDocument/2006/relationships/hyperlink" Target="https://github.com/OpenNeuroDatasets/ds005207" TargetMode="External"/><Relationship Id="rId5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nlinelibrary.wiley.com/doi/10.1111/jsr.12786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898944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[otak kita butuh] Tidur</a:t>
            </a:r>
            <a:endParaRPr sz="4800"/>
          </a:p>
        </p:txBody>
      </p:sp>
      <p:sp>
        <p:nvSpPr>
          <p:cNvPr id="969846937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35308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7816" y="201232"/>
            <a:ext cx="7664109" cy="3447781"/>
          </a:xfrm>
          <a:prstGeom prst="rect">
            <a:avLst/>
          </a:prstGeom>
        </p:spPr>
      </p:pic>
      <p:pic>
        <p:nvPicPr>
          <p:cNvPr id="100988313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9124" y="4152331"/>
            <a:ext cx="10822349" cy="1638868"/>
          </a:xfrm>
          <a:prstGeom prst="rect">
            <a:avLst/>
          </a:prstGeom>
        </p:spPr>
      </p:pic>
      <p:sp>
        <p:nvSpPr>
          <p:cNvPr id="1526206682" name=""/>
          <p:cNvSpPr txBox="1"/>
          <p:nvPr/>
        </p:nvSpPr>
        <p:spPr bwMode="auto">
          <a:xfrm rot="0" flipH="0" flipV="0">
            <a:off x="7984983" y="3131820"/>
            <a:ext cx="2356131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https://openneuro.org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9724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Instumentasi akuisisi sekitaran kepala</a:t>
            </a:r>
            <a:endParaRPr sz="3200"/>
          </a:p>
        </p:txBody>
      </p:sp>
      <p:sp>
        <p:nvSpPr>
          <p:cNvPr id="166347320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MRI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magnetic resonance imaging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PET (positron emission tomography)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MEG (magnetoencephalography)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EEG (electro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iEEG (intracranial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NIRS (near infrared spectroscopy)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12105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50449" y="2649683"/>
            <a:ext cx="4902800" cy="4084490"/>
          </a:xfrm>
          <a:prstGeom prst="rect">
            <a:avLst/>
          </a:prstGeom>
        </p:spPr>
      </p:pic>
      <p:sp>
        <p:nvSpPr>
          <p:cNvPr id="221858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MRI</a:t>
            </a:r>
            <a:endParaRPr sz="3200"/>
          </a:p>
        </p:txBody>
      </p:sp>
      <p:sp>
        <p:nvSpPr>
          <p:cNvPr id="3567522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Menembakkan medan magnet </a:t>
            </a:r>
            <a:r>
              <a:rPr b="0"/>
              <a:t>BUUUESAR</a:t>
            </a:r>
            <a:endParaRPr b="0"/>
          </a:p>
          <a:p>
            <a:pPr>
              <a:defRPr/>
            </a:pPr>
            <a:r>
              <a:rPr/>
              <a:t>Mengukur scan propagasi radial medan magnet, konsentrasi air (atau agen kontras)</a:t>
            </a:r>
            <a:endParaRPr/>
          </a:p>
          <a:p>
            <a:pPr>
              <a:defRPr/>
            </a:pPr>
            <a:r>
              <a:rPr/>
              <a:t>oven microwave 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771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PET/CT scan</a:t>
            </a:r>
            <a:endParaRPr sz="3200"/>
          </a:p>
        </p:txBody>
      </p:sp>
      <p:sp>
        <p:nvSpPr>
          <p:cNvPr id="2484443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Menangkap citra dari gelombang gamma (PET) atau Rontgen/X-ray (CT)</a:t>
            </a:r>
            <a:endParaRPr/>
          </a:p>
          <a:p>
            <a:pPr>
              <a:defRPr/>
            </a:pPr>
            <a:r>
              <a:rPr/>
              <a:t>Bisa diperkuat dengan kontras agen radioaktif (memancarkan positron)</a:t>
            </a:r>
            <a:endParaRPr/>
          </a:p>
        </p:txBody>
      </p:sp>
      <p:pic>
        <p:nvPicPr>
          <p:cNvPr id="7405639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52499" y="3916362"/>
            <a:ext cx="4946762" cy="2770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994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EEG</a:t>
            </a:r>
            <a:endParaRPr sz="3200"/>
          </a:p>
        </p:txBody>
      </p:sp>
      <p:pic>
        <p:nvPicPr>
          <p:cNvPr id="843310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9649" y="1169987"/>
            <a:ext cx="3143250" cy="4762499"/>
          </a:xfrm>
          <a:prstGeom prst="rect">
            <a:avLst/>
          </a:prstGeom>
        </p:spPr>
      </p:pic>
      <p:sp>
        <p:nvSpPr>
          <p:cNvPr id="2115780756" name=""/>
          <p:cNvSpPr txBox="1"/>
          <p:nvPr/>
        </p:nvSpPr>
        <p:spPr bwMode="auto">
          <a:xfrm rot="0" flipH="0" flipV="0">
            <a:off x="103983" y="6236969"/>
            <a:ext cx="5430833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https://onlinelibrary.wiley.com/doi/10.1111/jsr.12786</a:t>
            </a:r>
            <a:endParaRPr/>
          </a:p>
        </p:txBody>
      </p:sp>
      <p:pic>
        <p:nvPicPr>
          <p:cNvPr id="13723397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419599" y="1169987"/>
            <a:ext cx="4552949" cy="4762499"/>
          </a:xfrm>
          <a:prstGeom prst="rect">
            <a:avLst/>
          </a:prstGeom>
        </p:spPr>
      </p:pic>
      <p:sp>
        <p:nvSpPr>
          <p:cNvPr id="288237966" name="Title 1"/>
          <p:cNvSpPr>
            <a:spLocks noGrp="1"/>
          </p:cNvSpPr>
          <p:nvPr/>
        </p:nvSpPr>
        <p:spPr bwMode="auto">
          <a:xfrm>
            <a:off x="9353548" y="4941887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>
              <a:spcBef>
                <a:spcPts val="0"/>
              </a:spcBef>
              <a:buNone/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sz="3200"/>
              <a:t>Intracranial?</a:t>
            </a:r>
            <a:endParaRPr sz="3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9446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NIRS (near-infrared, aliran darah</a:t>
            </a:r>
            <a:endParaRPr sz="3200"/>
          </a:p>
        </p:txBody>
      </p:sp>
      <p:pic>
        <p:nvPicPr>
          <p:cNvPr id="1625881089" name=""/>
          <p:cNvPicPr>
            <a:picLocks noChangeAspect="1"/>
          </p:cNvPicPr>
          <p:nvPr/>
        </p:nvPicPr>
        <p:blipFill>
          <a:blip r:embed="rId3"/>
          <a:srcRect l="0" t="5750" r="31123" b="0"/>
          <a:stretch/>
        </p:blipFill>
        <p:spPr bwMode="auto">
          <a:xfrm flipH="0" flipV="0">
            <a:off x="7429499" y="1857374"/>
            <a:ext cx="4643317" cy="2828925"/>
          </a:xfrm>
          <a:prstGeom prst="rect">
            <a:avLst/>
          </a:prstGeom>
        </p:spPr>
      </p:pic>
      <p:pic>
        <p:nvPicPr>
          <p:cNvPr id="271007118" name=""/>
          <p:cNvPicPr>
            <a:picLocks noChangeAspect="1"/>
          </p:cNvPicPr>
          <p:nvPr/>
        </p:nvPicPr>
        <p:blipFill>
          <a:blip r:embed="rId4"/>
          <a:srcRect l="-1176" t="1606" r="61622" b="11646"/>
          <a:stretch/>
        </p:blipFill>
        <p:spPr bwMode="auto">
          <a:xfrm flipH="0" flipV="0">
            <a:off x="95249" y="1857374"/>
            <a:ext cx="2446239" cy="3143250"/>
          </a:xfrm>
          <a:prstGeom prst="rect">
            <a:avLst/>
          </a:prstGeom>
        </p:spPr>
      </p:pic>
      <p:pic>
        <p:nvPicPr>
          <p:cNvPr id="156050227" name=""/>
          <p:cNvPicPr>
            <a:picLocks noChangeAspect="1"/>
          </p:cNvPicPr>
          <p:nvPr/>
        </p:nvPicPr>
        <p:blipFill>
          <a:blip r:embed="rId5"/>
          <a:srcRect l="27274" t="0" r="2136" b="5215"/>
          <a:stretch/>
        </p:blipFill>
        <p:spPr bwMode="auto">
          <a:xfrm flipH="0" flipV="0">
            <a:off x="2668949" y="1857374"/>
            <a:ext cx="4686300" cy="2720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397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https://openneuro.org/datasets/ds005207/versions/1.0.0</a:t>
            </a:r>
            <a:br>
              <a:rPr sz="3200"/>
            </a:b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https://github.com/OpenNeuroDatasets/ds005207</a:t>
            </a:r>
            <a:endParaRPr sz="3200"/>
          </a:p>
        </p:txBody>
      </p:sp>
      <p:pic>
        <p:nvPicPr>
          <p:cNvPr id="37236489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795461" y="2519087"/>
            <a:ext cx="5864145" cy="3909430"/>
          </a:xfrm>
          <a:prstGeom prst="rect">
            <a:avLst/>
          </a:prstGeom>
        </p:spPr>
      </p:pic>
      <p:sp>
        <p:nvSpPr>
          <p:cNvPr id="1800729626" name=""/>
          <p:cNvSpPr/>
          <p:nvPr/>
        </p:nvSpPr>
        <p:spPr bwMode="auto">
          <a:xfrm flipH="0" flipV="0">
            <a:off x="533743" y="1570037"/>
            <a:ext cx="10937025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Some recordings are full 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polysomnography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measurements, others are 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EEG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rid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measurements. Most subjects have both PSG and ceegrid recordings  from the same night, though a few are missing one or the other.</a:t>
            </a:r>
            <a:endParaRPr sz="20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84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Volume, Velocity</a:t>
            </a:r>
            <a:endParaRPr sz="3200"/>
          </a:p>
        </p:txBody>
      </p:sp>
      <p:pic>
        <p:nvPicPr>
          <p:cNvPr id="9818555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149" y="1485900"/>
            <a:ext cx="11246126" cy="590549"/>
          </a:xfrm>
          <a:prstGeom prst="rect">
            <a:avLst/>
          </a:prstGeom>
        </p:spPr>
      </p:pic>
      <p:sp>
        <p:nvSpPr>
          <p:cNvPr id="4747923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2343150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20 responden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29 ‘sesi’ tidur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\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Tiap orang tiap malam tidur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86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r>
              <a:rPr sz="3200"/>
              <a:t>, Veracity </a:t>
            </a: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https://onlinelibrary.wiley.com/doi/10.1111/jsr.12786</a:t>
            </a:r>
            <a:r>
              <a:rPr sz="3200"/>
              <a:t> </a:t>
            </a:r>
            <a:endParaRPr sz="3200"/>
          </a:p>
        </p:txBody>
      </p:sp>
      <p:sp>
        <p:nvSpPr>
          <p:cNvPr id="16848020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256 Hz sample</a:t>
            </a:r>
            <a:endParaRPr/>
          </a:p>
          <a:p>
            <a:pPr>
              <a:defRPr/>
            </a:pPr>
            <a:r>
              <a:rPr/>
              <a:t>Band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alpha (8–16 Hz), beta (16–32 Hz), theta (4–8 Hz) and delta (1–4 Hz)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527687065" name=""/>
          <p:cNvSpPr txBox="1"/>
          <p:nvPr/>
        </p:nvSpPr>
        <p:spPr bwMode="auto">
          <a:xfrm rot="0" flipH="0" flipV="0">
            <a:off x="1131191" y="3548062"/>
            <a:ext cx="6089518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/>
              <a:t>Feature 	Short description</a:t>
            </a:r>
            <a:endParaRPr sz="1400"/>
          </a:p>
          <a:p>
            <a:pPr algn="l">
              <a:defRPr/>
            </a:pPr>
            <a:r>
              <a:rPr sz="1400"/>
              <a:t>F1 	Signal skewness 	EEG time domain</a:t>
            </a:r>
            <a:endParaRPr sz="1400"/>
          </a:p>
          <a:p>
            <a:pPr algn="l">
              <a:defRPr/>
            </a:pPr>
            <a:r>
              <a:rPr sz="1400"/>
              <a:t>F2 	Signal kurtosis 	</a:t>
            </a:r>
            <a:endParaRPr sz="1400"/>
          </a:p>
          <a:p>
            <a:pPr algn="l">
              <a:defRPr/>
            </a:pPr>
            <a:r>
              <a:rPr sz="1400"/>
              <a:t>F3 	Zero crossing rate 	</a:t>
            </a:r>
            <a:endParaRPr sz="1400"/>
          </a:p>
          <a:p>
            <a:pPr algn="l">
              <a:defRPr/>
            </a:pPr>
            <a:r>
              <a:rPr sz="1400"/>
              <a:t>...</a:t>
            </a:r>
            <a:endParaRPr sz="1400"/>
          </a:p>
          <a:p>
            <a:pPr algn="l">
              <a:defRPr/>
            </a:pPr>
            <a:r>
              <a:rPr sz="1400"/>
              <a:t>F27 	Peak power frequency 	</a:t>
            </a:r>
            <a:endParaRPr sz="1400"/>
          </a:p>
          <a:p>
            <a:pPr algn="l">
              <a:defRPr/>
            </a:pPr>
            <a:r>
              <a:rPr sz="1400"/>
              <a:t>F28 	Spectral entropy 	</a:t>
            </a:r>
            <a:endParaRPr sz="1400"/>
          </a:p>
          <a:p>
            <a:pPr algn="l">
              <a:defRPr/>
            </a:pPr>
            <a:r>
              <a:rPr sz="1400"/>
              <a:t>F29 	Spindle probability 	Sleep event proxies</a:t>
            </a:r>
            <a:endParaRPr sz="1400"/>
          </a:p>
          <a:p>
            <a:pPr algn="l">
              <a:defRPr/>
            </a:pPr>
            <a:r>
              <a:rPr sz="1400"/>
              <a:t>F30 	Frequency stationarity 	</a:t>
            </a:r>
            <a:endParaRPr sz="1400"/>
          </a:p>
          <a:p>
            <a:pPr algn="l">
              <a:defRPr/>
            </a:pPr>
            <a:r>
              <a:rPr sz="1400"/>
              <a:t>F31 	Lowest adj. frequency similarity 	</a:t>
            </a:r>
            <a:endParaRPr sz="1400"/>
          </a:p>
          <a:p>
            <a:pPr algn="l">
              <a:defRPr/>
            </a:pPr>
            <a:r>
              <a:rPr sz="1400"/>
              <a:t>F32 	Largest CWT value 	</a:t>
            </a:r>
            <a:endParaRPr sz="1400"/>
          </a:p>
          <a:p>
            <a:pPr algn="l">
              <a:defRPr/>
            </a:pPr>
            <a:r>
              <a:rPr sz="1400"/>
              <a:t>F33 	Longest sleep spindle</a:t>
            </a:r>
            <a:endParaRPr sz="1400"/>
          </a:p>
        </p:txBody>
      </p:sp>
      <p:pic>
        <p:nvPicPr>
          <p:cNvPr id="86485676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1160" y="2948619"/>
            <a:ext cx="4656949" cy="36236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721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r>
              <a:rPr sz="3200"/>
              <a:t>: tidur nyenyak berapa lama?</a:t>
            </a:r>
            <a:endParaRPr sz="3200"/>
          </a:p>
        </p:txBody>
      </p:sp>
      <p:pic>
        <p:nvPicPr>
          <p:cNvPr id="7771401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76348" y="1162049"/>
            <a:ext cx="8879779" cy="7429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2026-04-29T04:36:10Z</dcterms:modified>
</cp:coreProperties>
</file>