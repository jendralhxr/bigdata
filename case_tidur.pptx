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95398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1653462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84576413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903932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799952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8823104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7396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03834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4149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4364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1189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852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CAC215-DFC8-02C2-50DC-486822E506F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27588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84966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396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2438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1338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6912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30B4E3-1B01-1754-A4DD-7D9C78C141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7792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50753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51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FE1BA8-37E3-5594-DEC3-A985DCAD4A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2776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40783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598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5796CC-76F4-6E29-85C1-774CAF56B1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07577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4276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496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C26038-00CE-E995-98B5-0EE780C520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05240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988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42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E85033-81D1-A3C0-0457-66589181DC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887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0313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8477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A3E0DB-41F8-4563-7802-0B8AEEDA4D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1065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42024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910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AD8795-E035-1DDE-217C-16D90C9744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90580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6102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284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FFFFB6-1458-B34C-C4F0-21C5F8DE2E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1506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5302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5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D01EE2-A271-2A8C-597A-4D9902D647F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403649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97150597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26992350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75050818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18602466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46172839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21893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424506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3523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513831751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4051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599420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6368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809228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90117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470622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516287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640033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867529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3064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790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273127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3854704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0595167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617887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9969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9293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0833834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112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5647078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0536958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2969123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0153179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54763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189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3684805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6148397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780379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909300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6967312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12704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405777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18909453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1648916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4446534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7297609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2058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905028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412837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0153096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7140067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668773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76103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822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470827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294763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034213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6255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9795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7470476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820188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565158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5571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3272056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11601368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22140072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18571791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4280304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5630248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4448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0840274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ics.2004.05.052" TargetMode="External"/><Relationship Id="rId6" Type="http://schemas.openxmlformats.org/officeDocument/2006/relationships/hyperlink" Target="https://www.clinicalguidelines.scot.nhs.uk/ggc-paediatric-guidelines/ggc-paediatric-guidelines/anaesthetics/near-infrared-spectroscopy-nirs-guideline-1072/" TargetMode="External"/><Relationship Id="rId7" Type="http://schemas.openxmlformats.org/officeDocument/2006/relationships/image" Target="../media/image9.png"/><Relationship Id="rId8" Type="http://schemas.openxmlformats.org/officeDocument/2006/relationships/hyperlink" Target="https://www.artinis.com/nirs-eeg-package" TargetMode="Externa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penneuro.org/datasets/ds005207/versions/1.0.0" TargetMode="External"/><Relationship Id="rId4" Type="http://schemas.openxmlformats.org/officeDocument/2006/relationships/hyperlink" Target="https://github.com/OpenNeuroDatasets/ds005207" TargetMode="External"/><Relationship Id="rId5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nlinelibrary.wiley.com/doi/10.1111/jsr.12786" TargetMode="External"/><Relationship Id="rId4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nemar.org/" TargetMode="External"/><Relationship Id="rId4" Type="http://schemas.openxmlformats.org/officeDocument/2006/relationships/hyperlink" Target="https://bdsp.io/content/hsp/2.0/" TargetMode="External"/><Relationship Id="rId5" Type="http://schemas.openxmlformats.org/officeDocument/2006/relationships/hyperlink" Target="https://sccn.ucsd.edu/~arno/fam2data/publicly_available_EEG_data.html" TargetMode="External"/><Relationship Id="rId6" Type="http://schemas.openxmlformats.org/officeDocument/2006/relationships/hyperlink" Target="https://www.kaggle.com/datasets/quands/eeg-dataset" TargetMode="External"/><Relationship Id="rId7" Type="http://schemas.openxmlformats.org/officeDocument/2006/relationships/hyperlink" Target="https://archive.ics.uci.edu/dataset/264/eeg+eye+stat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44172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[otak kita butuh] Tidur</a:t>
            </a:r>
            <a:endParaRPr sz="4800"/>
          </a:p>
        </p:txBody>
      </p:sp>
      <p:sp>
        <p:nvSpPr>
          <p:cNvPr id="2088587656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8339078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87816" y="201232"/>
            <a:ext cx="7664109" cy="3447781"/>
          </a:xfrm>
          <a:prstGeom prst="rect">
            <a:avLst/>
          </a:prstGeom>
        </p:spPr>
      </p:pic>
      <p:pic>
        <p:nvPicPr>
          <p:cNvPr id="110636948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9124" y="4152331"/>
            <a:ext cx="10822349" cy="1638868"/>
          </a:xfrm>
          <a:prstGeom prst="rect">
            <a:avLst/>
          </a:prstGeom>
        </p:spPr>
      </p:pic>
      <p:sp>
        <p:nvSpPr>
          <p:cNvPr id="1585140544" name=""/>
          <p:cNvSpPr txBox="1"/>
          <p:nvPr/>
        </p:nvSpPr>
        <p:spPr bwMode="auto">
          <a:xfrm rot="0" flipH="0" flipV="0">
            <a:off x="7984983" y="3131820"/>
            <a:ext cx="2356131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https://openneuro.org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5638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Instumentasi akuisisi sekitaran kepala</a:t>
            </a:r>
            <a:endParaRPr sz="3200"/>
          </a:p>
        </p:txBody>
      </p:sp>
      <p:sp>
        <p:nvSpPr>
          <p:cNvPr id="84916686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MRI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magnetic resonance imaging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PET (positron emission tomography)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MEG (magnetoencephalography)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EEG (electro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iEEG (intracranial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NIRS (near infrared spectroscopy)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82481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050449" y="2649683"/>
            <a:ext cx="4902800" cy="4084490"/>
          </a:xfrm>
          <a:prstGeom prst="rect">
            <a:avLst/>
          </a:prstGeom>
        </p:spPr>
      </p:pic>
      <p:sp>
        <p:nvSpPr>
          <p:cNvPr id="6516841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MRI</a:t>
            </a:r>
            <a:endParaRPr sz="3200"/>
          </a:p>
        </p:txBody>
      </p:sp>
      <p:sp>
        <p:nvSpPr>
          <p:cNvPr id="78552366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Menembakkan medan magnet </a:t>
            </a:r>
            <a:r>
              <a:rPr b="0"/>
              <a:t>BUUUESAR</a:t>
            </a:r>
            <a:endParaRPr b="0"/>
          </a:p>
          <a:p>
            <a:pPr>
              <a:defRPr/>
            </a:pPr>
            <a:r>
              <a:rPr/>
              <a:t>Mengukur scan propagasi radial medan magnet, konsentrasi air (atau agen kontras)</a:t>
            </a:r>
            <a:endParaRPr/>
          </a:p>
          <a:p>
            <a:pPr>
              <a:defRPr/>
            </a:pPr>
            <a:r>
              <a:rPr/>
              <a:t>oven microwave 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6650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PET/CT scan</a:t>
            </a:r>
            <a:endParaRPr sz="3200"/>
          </a:p>
        </p:txBody>
      </p:sp>
      <p:sp>
        <p:nvSpPr>
          <p:cNvPr id="183058153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Menangkap citra dari gelombang gamma (PET) atau Rontgen/X-ray (CT)</a:t>
            </a:r>
            <a:endParaRPr/>
          </a:p>
          <a:p>
            <a:pPr>
              <a:defRPr/>
            </a:pPr>
            <a:r>
              <a:rPr/>
              <a:t>Bisa diperkuat dengan kontras agen radioaktif (memancarkan positron)</a:t>
            </a:r>
            <a:endParaRPr/>
          </a:p>
        </p:txBody>
      </p:sp>
      <p:pic>
        <p:nvPicPr>
          <p:cNvPr id="176038972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52499" y="3916362"/>
            <a:ext cx="4946762" cy="27701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8291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EEG (elektroda tegangan &lt;~100 </a:t>
            </a:r>
            <a:r>
              <a:rPr lang="en-US" sz="32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</a:rPr>
              <a:t>μ</a:t>
            </a:r>
            <a:r>
              <a:rPr sz="3200"/>
              <a:t>V)</a:t>
            </a:r>
            <a:endParaRPr sz="3200"/>
          </a:p>
        </p:txBody>
      </p:sp>
      <p:pic>
        <p:nvPicPr>
          <p:cNvPr id="7002074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9649" y="1169987"/>
            <a:ext cx="3143250" cy="4762499"/>
          </a:xfrm>
          <a:prstGeom prst="rect">
            <a:avLst/>
          </a:prstGeom>
        </p:spPr>
      </p:pic>
      <p:sp>
        <p:nvSpPr>
          <p:cNvPr id="1144816500" name=""/>
          <p:cNvSpPr txBox="1"/>
          <p:nvPr/>
        </p:nvSpPr>
        <p:spPr bwMode="auto">
          <a:xfrm rot="0" flipH="0" flipV="0">
            <a:off x="103983" y="6236969"/>
            <a:ext cx="54308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https://onlinelibrary.wiley.com/doi/10.1111/jsr.12786</a:t>
            </a:r>
            <a:endParaRPr/>
          </a:p>
        </p:txBody>
      </p:sp>
      <p:pic>
        <p:nvPicPr>
          <p:cNvPr id="16451755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419599" y="1169987"/>
            <a:ext cx="4552949" cy="4762499"/>
          </a:xfrm>
          <a:prstGeom prst="rect">
            <a:avLst/>
          </a:prstGeom>
        </p:spPr>
      </p:pic>
      <p:sp>
        <p:nvSpPr>
          <p:cNvPr id="806595450" name="Title 1"/>
          <p:cNvSpPr>
            <a:spLocks noGrp="1"/>
          </p:cNvSpPr>
          <p:nvPr/>
        </p:nvSpPr>
        <p:spPr bwMode="auto">
          <a:xfrm>
            <a:off x="9353548" y="4941887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>
              <a:spcBef>
                <a:spcPts val="0"/>
              </a:spcBef>
              <a:buNone/>
              <a:defRPr sz="44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sz="3200"/>
              <a:t>Intracranial?</a:t>
            </a:r>
            <a:endParaRPr sz="3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33302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NIRS (near-infrared, aliran darah</a:t>
            </a:r>
            <a:r>
              <a:rPr sz="3200"/>
              <a:t>)</a:t>
            </a:r>
            <a:endParaRPr sz="3200"/>
          </a:p>
        </p:txBody>
      </p:sp>
      <p:pic>
        <p:nvPicPr>
          <p:cNvPr id="1501503582" name=""/>
          <p:cNvPicPr>
            <a:picLocks noChangeAspect="1"/>
          </p:cNvPicPr>
          <p:nvPr/>
        </p:nvPicPr>
        <p:blipFill>
          <a:blip r:embed="rId3"/>
          <a:srcRect l="0" t="5750" r="31123" b="0"/>
          <a:stretch/>
        </p:blipFill>
        <p:spPr bwMode="auto">
          <a:xfrm flipH="0" flipV="0">
            <a:off x="7238999" y="1127125"/>
            <a:ext cx="4643317" cy="2828925"/>
          </a:xfrm>
          <a:prstGeom prst="rect">
            <a:avLst/>
          </a:prstGeom>
        </p:spPr>
      </p:pic>
      <p:pic>
        <p:nvPicPr>
          <p:cNvPr id="2083392967" name=""/>
          <p:cNvPicPr>
            <a:picLocks noChangeAspect="1"/>
          </p:cNvPicPr>
          <p:nvPr/>
        </p:nvPicPr>
        <p:blipFill>
          <a:blip r:embed="rId4"/>
          <a:srcRect l="27274" t="0" r="2135" b="5215"/>
          <a:stretch/>
        </p:blipFill>
        <p:spPr bwMode="auto">
          <a:xfrm flipH="0" flipV="0">
            <a:off x="1904726" y="4357370"/>
            <a:ext cx="3716973" cy="2157909"/>
          </a:xfrm>
          <a:prstGeom prst="rect">
            <a:avLst/>
          </a:prstGeom>
        </p:spPr>
      </p:pic>
      <p:sp>
        <p:nvSpPr>
          <p:cNvPr id="524117114" name=""/>
          <p:cNvSpPr/>
          <p:nvPr/>
        </p:nvSpPr>
        <p:spPr bwMode="auto">
          <a:xfrm>
            <a:off x="9086850" y="4096840"/>
            <a:ext cx="2873525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u="sng">
                <a:hlinkClick r:id="rId5" tooltip=""/>
              </a:rPr>
              <a:t>10.1016/j.ics.2004.05.052</a:t>
            </a:r>
            <a:endParaRPr/>
          </a:p>
        </p:txBody>
      </p:sp>
      <p:sp>
        <p:nvSpPr>
          <p:cNvPr id="1833996811" name=""/>
          <p:cNvSpPr txBox="1"/>
          <p:nvPr/>
        </p:nvSpPr>
        <p:spPr bwMode="auto">
          <a:xfrm rot="0" flipH="0" flipV="0">
            <a:off x="5844638" y="6275070"/>
            <a:ext cx="499960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u="sng">
                <a:hlinkClick r:id="rId6" tooltip=""/>
              </a:rPr>
              <a:t>near-infrared-spectroscopy-guideline-1072</a:t>
            </a:r>
            <a:endParaRPr/>
          </a:p>
        </p:txBody>
      </p:sp>
      <p:pic>
        <p:nvPicPr>
          <p:cNvPr id="16435485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379197" y="1081405"/>
            <a:ext cx="4796782" cy="3198494"/>
          </a:xfrm>
          <a:prstGeom prst="rect">
            <a:avLst/>
          </a:prstGeom>
        </p:spPr>
      </p:pic>
      <p:sp>
        <p:nvSpPr>
          <p:cNvPr id="1818374781" name=""/>
          <p:cNvSpPr txBox="1"/>
          <p:nvPr/>
        </p:nvSpPr>
        <p:spPr bwMode="auto">
          <a:xfrm rot="0" flipH="0" flipV="0">
            <a:off x="5895832" y="5817869"/>
            <a:ext cx="436309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u="sng">
                <a:hlinkClick r:id="rId8" tooltip=""/>
              </a:rPr>
              <a:t>https://www.artinis.com/nirs-eeg-package</a:t>
            </a:r>
            <a:r>
              <a:rPr/>
              <a:t>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90656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https://openneuro.org/datasets/ds005207/versions/1.0.0</a:t>
            </a:r>
            <a:br>
              <a:rPr sz="3200"/>
            </a:b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4" tooltip=""/>
              </a:rPr>
              <a:t>https://github.com/OpenNeuroDatasets/ds005207</a:t>
            </a:r>
            <a:endParaRPr sz="3200"/>
          </a:p>
        </p:txBody>
      </p:sp>
      <p:pic>
        <p:nvPicPr>
          <p:cNvPr id="1080785704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795461" y="2519087"/>
            <a:ext cx="5864145" cy="3909430"/>
          </a:xfrm>
          <a:prstGeom prst="rect">
            <a:avLst/>
          </a:prstGeom>
        </p:spPr>
      </p:pic>
      <p:sp>
        <p:nvSpPr>
          <p:cNvPr id="66775160" name=""/>
          <p:cNvSpPr/>
          <p:nvPr/>
        </p:nvSpPr>
        <p:spPr bwMode="auto">
          <a:xfrm flipH="0" flipV="0">
            <a:off x="533743" y="1570037"/>
            <a:ext cx="10937025" cy="10061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Some recordings are full 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polysomnography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measurements, others are 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EEG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rid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measurements. Most subjects have both PSG and ceegrid recordings  from the same night, though a few are missing one or the other.</a:t>
            </a:r>
            <a:endParaRPr sz="2000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7633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Volume, Velocity</a:t>
            </a:r>
            <a:endParaRPr sz="3200"/>
          </a:p>
        </p:txBody>
      </p:sp>
      <p:pic>
        <p:nvPicPr>
          <p:cNvPr id="30079437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8149" y="1485900"/>
            <a:ext cx="11246126" cy="590549"/>
          </a:xfrm>
          <a:prstGeom prst="rect">
            <a:avLst/>
          </a:prstGeom>
        </p:spPr>
      </p:pic>
      <p:sp>
        <p:nvSpPr>
          <p:cNvPr id="68211485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7" y="2343150"/>
            <a:ext cx="11046649" cy="37830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20 responden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29 ‘sesi’ tidur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\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Tiap orang tiap malam tidur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5166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Variety</a:t>
            </a:r>
            <a:r>
              <a:rPr sz="3200"/>
              <a:t>, Veracity </a:t>
            </a: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https://onlinelibrary.wiley.com/doi/10.1111/jsr.12786</a:t>
            </a:r>
            <a:r>
              <a:rPr sz="3200"/>
              <a:t> </a:t>
            </a:r>
            <a:endParaRPr sz="3200"/>
          </a:p>
        </p:txBody>
      </p:sp>
      <p:sp>
        <p:nvSpPr>
          <p:cNvPr id="116896502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256 Hz sample</a:t>
            </a:r>
            <a:endParaRPr/>
          </a:p>
          <a:p>
            <a:pPr>
              <a:defRPr/>
            </a:pPr>
            <a:r>
              <a:rPr/>
              <a:t>Band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alpha (8–16 Hz), beta (16–32 Hz), theta (4–8 Hz) and delta (1–4 Hz)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36467017" name=""/>
          <p:cNvSpPr txBox="1"/>
          <p:nvPr/>
        </p:nvSpPr>
        <p:spPr bwMode="auto">
          <a:xfrm rot="0" flipH="0" flipV="0">
            <a:off x="1131191" y="3548062"/>
            <a:ext cx="6089518" cy="2652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/>
              <a:t>Feature 	Short description</a:t>
            </a:r>
            <a:endParaRPr sz="1400"/>
          </a:p>
          <a:p>
            <a:pPr algn="l">
              <a:defRPr/>
            </a:pPr>
            <a:r>
              <a:rPr sz="1400"/>
              <a:t>F1 	Signal skewness 	EEG time domain</a:t>
            </a:r>
            <a:endParaRPr sz="1400"/>
          </a:p>
          <a:p>
            <a:pPr algn="l">
              <a:defRPr/>
            </a:pPr>
            <a:r>
              <a:rPr sz="1400"/>
              <a:t>F2 	Signal kurtosis 	</a:t>
            </a:r>
            <a:endParaRPr sz="1400"/>
          </a:p>
          <a:p>
            <a:pPr algn="l">
              <a:defRPr/>
            </a:pPr>
            <a:r>
              <a:rPr sz="1400"/>
              <a:t>F3 	Zero crossing rate 	</a:t>
            </a:r>
            <a:endParaRPr sz="1400"/>
          </a:p>
          <a:p>
            <a:pPr algn="l">
              <a:defRPr/>
            </a:pPr>
            <a:r>
              <a:rPr sz="1400"/>
              <a:t>...</a:t>
            </a:r>
            <a:endParaRPr sz="1400"/>
          </a:p>
          <a:p>
            <a:pPr algn="l">
              <a:defRPr/>
            </a:pPr>
            <a:r>
              <a:rPr sz="1400"/>
              <a:t>F27 	Peak power frequency 	</a:t>
            </a:r>
            <a:endParaRPr sz="1400"/>
          </a:p>
          <a:p>
            <a:pPr algn="l">
              <a:defRPr/>
            </a:pPr>
            <a:r>
              <a:rPr sz="1400"/>
              <a:t>F28 	Spectral entropy 	</a:t>
            </a:r>
            <a:endParaRPr sz="1400"/>
          </a:p>
          <a:p>
            <a:pPr algn="l">
              <a:defRPr/>
            </a:pPr>
            <a:r>
              <a:rPr sz="1400"/>
              <a:t>F29 	Spindle probability 	Sleep event proxies</a:t>
            </a:r>
            <a:endParaRPr sz="1400"/>
          </a:p>
          <a:p>
            <a:pPr algn="l">
              <a:defRPr/>
            </a:pPr>
            <a:r>
              <a:rPr sz="1400"/>
              <a:t>F30 	Frequency stationarity 	</a:t>
            </a:r>
            <a:endParaRPr sz="1400"/>
          </a:p>
          <a:p>
            <a:pPr algn="l">
              <a:defRPr/>
            </a:pPr>
            <a:r>
              <a:rPr sz="1400"/>
              <a:t>F31 	Lowest adj. frequency similarity 	</a:t>
            </a:r>
            <a:endParaRPr sz="1400"/>
          </a:p>
          <a:p>
            <a:pPr algn="l">
              <a:defRPr/>
            </a:pPr>
            <a:r>
              <a:rPr sz="1400"/>
              <a:t>F32 	Largest CWT value 	</a:t>
            </a:r>
            <a:endParaRPr sz="1400"/>
          </a:p>
          <a:p>
            <a:pPr algn="l">
              <a:defRPr/>
            </a:pPr>
            <a:r>
              <a:rPr sz="1400"/>
              <a:t>F33 	Longest sleep spindle</a:t>
            </a:r>
            <a:endParaRPr sz="1400"/>
          </a:p>
        </p:txBody>
      </p:sp>
      <p:pic>
        <p:nvPicPr>
          <p:cNvPr id="42157182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1159" y="2948619"/>
            <a:ext cx="4656949" cy="36236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83033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Value</a:t>
            </a:r>
            <a:r>
              <a:rPr sz="3200"/>
              <a:t>: tidur nyenyak berapa lama?</a:t>
            </a:r>
            <a:endParaRPr sz="3200"/>
          </a:p>
        </p:txBody>
      </p:sp>
      <p:pic>
        <p:nvPicPr>
          <p:cNvPr id="334795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33408" y="1200149"/>
            <a:ext cx="6489069" cy="5429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6080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More</a:t>
            </a:r>
            <a:r>
              <a:rPr sz="3200"/>
              <a:t> EEGs (biasanya dikaitkan dengan suatu aktivitas)</a:t>
            </a:r>
            <a:endParaRPr sz="3200"/>
          </a:p>
        </p:txBody>
      </p:sp>
      <p:sp>
        <p:nvSpPr>
          <p:cNvPr id="207113354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61947" y="1537494"/>
            <a:ext cx="11046649" cy="37830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https://nemar.org/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4" tooltip=""/>
              </a:rPr>
              <a:t>https://bdsp.io/content/hsp/2.0/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Human Sleep Project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5" tooltip=""/>
              </a:rPr>
              <a:t>https://sccn.ucsd.edu/~arno/fam2data/publicly_available_EEG_data.html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6" tooltip=""/>
              </a:rPr>
              <a:t>https://www.kaggle.com/datasets/quands/eeg-dataset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7" tooltip=""/>
              </a:rPr>
              <a:t>https://archive.ics.uci.edu/dataset/264/eeg+eye+state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modified xsi:type="dcterms:W3CDTF">2026-04-29T06:00:16Z</dcterms:modified>
</cp:coreProperties>
</file>