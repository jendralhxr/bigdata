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5631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923389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091295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464992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07989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3495346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2133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053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9737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225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4816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057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CAC215-DFC8-02C2-50DC-486822E506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22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832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184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DDC1E-C0CD-C052-6756-8F8E379A3F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2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5282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80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30B4E3-1B01-1754-A4DD-7D9C78C141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054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447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855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FE1BA8-37E3-5594-DEC3-A985DCAD4A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72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758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480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5796CC-76F4-6E29-85C1-774CAF56B1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891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2983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923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C26038-00CE-E995-98B5-0EE780C520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61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7714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213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E85033-81D1-A3C0-0457-66589181DC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434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062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59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A3E0DB-41F8-4563-7802-0B8AEEDA4D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91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33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215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AD8795-E035-1DDE-217C-16D90C9744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376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5395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4512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FFFFB6-1458-B34C-C4F0-21C5F8DE2E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778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1741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312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D01EE2-A271-2A8C-597A-4D9902D647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02202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37892395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3347790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607295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65575008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05964519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0634641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950907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2507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366046452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5136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3687449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733516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978632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11634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31631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76105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39385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447932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3913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826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067358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9992542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177477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569839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792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708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08056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201604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911812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2495429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3375785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48272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89581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6454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1985693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99558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404375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17281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191605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4366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862360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5453680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25886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005816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688127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528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529993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918034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1909297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261631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777580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7293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6909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156407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460250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712078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7755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87149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8807501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80088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514614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304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439712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38668285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6470737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25224488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294083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9622764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832578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64985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hyperlink" Target="https://doi.org/10.1016/j.ics.2004.05.052" TargetMode="External"/><Relationship Id="rId6" Type="http://schemas.openxmlformats.org/officeDocument/2006/relationships/hyperlink" Target="https://www.clinicalguidelines.scot.nhs.uk/ggc-paediatric-guidelines/ggc-paediatric-guidelines/anaesthetics/near-infrared-spectroscopy-nirs-guideline-1072/" TargetMode="External"/><Relationship Id="rId7" Type="http://schemas.openxmlformats.org/officeDocument/2006/relationships/image" Target="../media/image9.png"/><Relationship Id="rId8" Type="http://schemas.openxmlformats.org/officeDocument/2006/relationships/hyperlink" Target="https://www.artinis.com/nirs-eeg-package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penneuro.org/datasets/ds005207/versions/1.0.0" TargetMode="External"/><Relationship Id="rId4" Type="http://schemas.openxmlformats.org/officeDocument/2006/relationships/hyperlink" Target="https://github.com/OpenNeuroDatasets/ds005207" TargetMode="External"/><Relationship Id="rId5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nlinelibrary.wiley.com/doi/10.1111/jsr.12786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nemar.org/" TargetMode="External"/><Relationship Id="rId4" Type="http://schemas.openxmlformats.org/officeDocument/2006/relationships/hyperlink" Target="https://bdsp.io/content/hsp/2.0/" TargetMode="External"/><Relationship Id="rId5" Type="http://schemas.openxmlformats.org/officeDocument/2006/relationships/hyperlink" Target="https://sccn.ucsd.edu/~arno/fam2data/publicly_available_EEG_data.html" TargetMode="External"/><Relationship Id="rId6" Type="http://schemas.openxmlformats.org/officeDocument/2006/relationships/hyperlink" Target="https://www.kaggle.com/datasets/quands/eeg-dataset" TargetMode="External"/><Relationship Id="rId7" Type="http://schemas.openxmlformats.org/officeDocument/2006/relationships/hyperlink" Target="https://archive.ics.uci.edu/dataset/264/eeg+eye+sta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16193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2049" y="2381248"/>
            <a:ext cx="10781226" cy="193834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Data: </a:t>
            </a:r>
            <a:r>
              <a:rPr lang="en-US" sz="4800" b="1"/>
              <a:t>[otak kita butuh] Tidur</a:t>
            </a:r>
            <a:endParaRPr sz="4800"/>
          </a:p>
        </p:txBody>
      </p:sp>
      <p:sp>
        <p:nvSpPr>
          <p:cNvPr id="32215468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2174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816" y="201232"/>
            <a:ext cx="7664109" cy="3447781"/>
          </a:xfrm>
          <a:prstGeom prst="rect">
            <a:avLst/>
          </a:prstGeom>
        </p:spPr>
      </p:pic>
      <p:pic>
        <p:nvPicPr>
          <p:cNvPr id="20560391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99124" y="4152331"/>
            <a:ext cx="10822349" cy="1638868"/>
          </a:xfrm>
          <a:prstGeom prst="rect">
            <a:avLst/>
          </a:prstGeom>
        </p:spPr>
      </p:pic>
      <p:sp>
        <p:nvSpPr>
          <p:cNvPr id="1504000112" name=""/>
          <p:cNvSpPr txBox="1"/>
          <p:nvPr/>
        </p:nvSpPr>
        <p:spPr bwMode="auto">
          <a:xfrm rot="0" flipH="0" flipV="0">
            <a:off x="7984983" y="3131820"/>
            <a:ext cx="2356131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https://openneuro.org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5008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Instumentasi akuisisi sekitaran kepala</a:t>
            </a:r>
            <a:endParaRPr sz="3200"/>
          </a:p>
        </p:txBody>
      </p:sp>
      <p:sp>
        <p:nvSpPr>
          <p:cNvPr id="190125382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1104665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MRI (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magnetic resonance imaging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PET (positron emission tomography)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MEG (magnetoencephalography)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EEG (electro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encephalography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iEEG (intracranial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electro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encephalography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NIRS (near infrared spectroscopy)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5249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50449" y="2649683"/>
            <a:ext cx="4902800" cy="4084490"/>
          </a:xfrm>
          <a:prstGeom prst="rect">
            <a:avLst/>
          </a:prstGeom>
        </p:spPr>
      </p:pic>
      <p:sp>
        <p:nvSpPr>
          <p:cNvPr id="15574982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MRI</a:t>
            </a:r>
            <a:endParaRPr sz="3200"/>
          </a:p>
        </p:txBody>
      </p:sp>
      <p:sp>
        <p:nvSpPr>
          <p:cNvPr id="130185718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Menembakkan medan magnet </a:t>
            </a:r>
            <a:r>
              <a:rPr b="0"/>
              <a:t>BUUUESAR</a:t>
            </a:r>
            <a:endParaRPr b="0"/>
          </a:p>
          <a:p>
            <a:pPr>
              <a:defRPr/>
            </a:pPr>
            <a:r>
              <a:rPr/>
              <a:t>Mengukur scan propagasi radial medan magnet, konsentrasi air (atau agen kontras)</a:t>
            </a:r>
            <a:endParaRPr/>
          </a:p>
          <a:p>
            <a:pPr>
              <a:defRPr/>
            </a:pPr>
            <a:r>
              <a:rPr/>
              <a:t>oven microwave </a:t>
            </a: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4071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PET/CT scan</a:t>
            </a:r>
            <a:endParaRPr sz="3200"/>
          </a:p>
        </p:txBody>
      </p:sp>
      <p:sp>
        <p:nvSpPr>
          <p:cNvPr id="10063287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Menangkap citra dari gelombang gamma (PET) atau Rontgen/X-ray (CT)</a:t>
            </a:r>
            <a:endParaRPr/>
          </a:p>
          <a:p>
            <a:pPr>
              <a:defRPr/>
            </a:pPr>
            <a:r>
              <a:rPr/>
              <a:t>Bisa diperkuat dengan kontras agen radioaktif (memancarkan positron)</a:t>
            </a:r>
            <a:endParaRPr/>
          </a:p>
        </p:txBody>
      </p:sp>
      <p:pic>
        <p:nvPicPr>
          <p:cNvPr id="9790922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9" y="3916362"/>
            <a:ext cx="4946762" cy="2770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1313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EEG</a:t>
            </a:r>
            <a:endParaRPr sz="3200"/>
          </a:p>
        </p:txBody>
      </p:sp>
      <p:pic>
        <p:nvPicPr>
          <p:cNvPr id="11877502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9649" y="1169987"/>
            <a:ext cx="3143250" cy="4762499"/>
          </a:xfrm>
          <a:prstGeom prst="rect">
            <a:avLst/>
          </a:prstGeom>
        </p:spPr>
      </p:pic>
      <p:sp>
        <p:nvSpPr>
          <p:cNvPr id="1167091183" name=""/>
          <p:cNvSpPr txBox="1"/>
          <p:nvPr/>
        </p:nvSpPr>
        <p:spPr bwMode="auto">
          <a:xfrm rot="0" flipH="0" flipV="0">
            <a:off x="103983" y="6236969"/>
            <a:ext cx="54308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https://onlinelibrary.wiley.com/doi/10.1111/jsr.12786</a:t>
            </a:r>
            <a:endParaRPr/>
          </a:p>
        </p:txBody>
      </p:sp>
      <p:pic>
        <p:nvPicPr>
          <p:cNvPr id="15868992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419599" y="1169987"/>
            <a:ext cx="4552949" cy="4762499"/>
          </a:xfrm>
          <a:prstGeom prst="rect">
            <a:avLst/>
          </a:prstGeom>
        </p:spPr>
      </p:pic>
      <p:sp>
        <p:nvSpPr>
          <p:cNvPr id="1538855111" name="Title 1"/>
          <p:cNvSpPr>
            <a:spLocks noGrp="1"/>
          </p:cNvSpPr>
          <p:nvPr/>
        </p:nvSpPr>
        <p:spPr bwMode="auto">
          <a:xfrm>
            <a:off x="9353548" y="4941887"/>
            <a:ext cx="109728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>
              <a:spcBef>
                <a:spcPts val="0"/>
              </a:spcBef>
              <a:buNone/>
              <a:defRPr sz="4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sz="3200"/>
              <a:t>Intracranial?</a:t>
            </a:r>
            <a:endParaRPr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801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NIRS (near-infrared, aliran darah</a:t>
            </a:r>
            <a:r>
              <a:rPr sz="3200"/>
              <a:t>)</a:t>
            </a:r>
            <a:endParaRPr sz="3200"/>
          </a:p>
        </p:txBody>
      </p:sp>
      <p:pic>
        <p:nvPicPr>
          <p:cNvPr id="408767922" name=""/>
          <p:cNvPicPr>
            <a:picLocks noChangeAspect="1"/>
          </p:cNvPicPr>
          <p:nvPr/>
        </p:nvPicPr>
        <p:blipFill>
          <a:blip r:embed="rId3"/>
          <a:srcRect l="0" t="5750" r="31123" b="0"/>
          <a:stretch/>
        </p:blipFill>
        <p:spPr bwMode="auto">
          <a:xfrm flipH="0" flipV="0">
            <a:off x="7238999" y="1127125"/>
            <a:ext cx="4643317" cy="2828925"/>
          </a:xfrm>
          <a:prstGeom prst="rect">
            <a:avLst/>
          </a:prstGeom>
        </p:spPr>
      </p:pic>
      <p:pic>
        <p:nvPicPr>
          <p:cNvPr id="784519409" name=""/>
          <p:cNvPicPr>
            <a:picLocks noChangeAspect="1"/>
          </p:cNvPicPr>
          <p:nvPr/>
        </p:nvPicPr>
        <p:blipFill>
          <a:blip r:embed="rId4"/>
          <a:srcRect l="27274" t="0" r="2135" b="5215"/>
          <a:stretch/>
        </p:blipFill>
        <p:spPr bwMode="auto">
          <a:xfrm flipH="0" flipV="0">
            <a:off x="1904726" y="4357370"/>
            <a:ext cx="3716973" cy="2157909"/>
          </a:xfrm>
          <a:prstGeom prst="rect">
            <a:avLst/>
          </a:prstGeom>
        </p:spPr>
      </p:pic>
      <p:sp>
        <p:nvSpPr>
          <p:cNvPr id="1820240420" name=""/>
          <p:cNvSpPr/>
          <p:nvPr/>
        </p:nvSpPr>
        <p:spPr bwMode="auto">
          <a:xfrm>
            <a:off x="9086850" y="4096840"/>
            <a:ext cx="2873525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u="sng">
                <a:hlinkClick r:id="rId5" tooltip=""/>
              </a:rPr>
              <a:t>10.1016/j.ics.2004.05.052</a:t>
            </a:r>
            <a:endParaRPr/>
          </a:p>
        </p:txBody>
      </p:sp>
      <p:sp>
        <p:nvSpPr>
          <p:cNvPr id="553334999" name=""/>
          <p:cNvSpPr txBox="1"/>
          <p:nvPr/>
        </p:nvSpPr>
        <p:spPr bwMode="auto">
          <a:xfrm rot="0" flipH="0" flipV="0">
            <a:off x="5844638" y="6275070"/>
            <a:ext cx="499960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6" tooltip=""/>
              </a:rPr>
              <a:t>near-infrared-spectroscopy-guideline-1072</a:t>
            </a:r>
            <a:endParaRPr/>
          </a:p>
        </p:txBody>
      </p:sp>
      <p:pic>
        <p:nvPicPr>
          <p:cNvPr id="76292622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379197" y="1081405"/>
            <a:ext cx="4796782" cy="3198494"/>
          </a:xfrm>
          <a:prstGeom prst="rect">
            <a:avLst/>
          </a:prstGeom>
        </p:spPr>
      </p:pic>
      <p:sp>
        <p:nvSpPr>
          <p:cNvPr id="723309173" name=""/>
          <p:cNvSpPr txBox="1"/>
          <p:nvPr/>
        </p:nvSpPr>
        <p:spPr bwMode="auto">
          <a:xfrm rot="0" flipH="0" flipV="0">
            <a:off x="5895832" y="5817869"/>
            <a:ext cx="43630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hlinkClick r:id="rId8" tooltip=""/>
              </a:rPr>
              <a:t>https://www.artinis.com/nirs-eeg-package</a:t>
            </a:r>
            <a:r>
              <a:rPr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0233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 b="0" i="0" u="sng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  <a:hlinkClick r:id="rId3" tooltip=""/>
              </a:rPr>
              <a:t>https://openneuro.org/datasets/ds005207/versions/1.0.0</a:t>
            </a:r>
            <a:br>
              <a:rPr sz="3200"/>
            </a:br>
            <a:r>
              <a:rPr lang="en-US" sz="3200" b="0" i="0" u="sng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  <a:hlinkClick r:id="rId4" tooltip=""/>
              </a:rPr>
              <a:t>https://github.com/OpenNeuroDatasets/ds005207</a:t>
            </a:r>
            <a:endParaRPr sz="3200"/>
          </a:p>
        </p:txBody>
      </p:sp>
      <p:pic>
        <p:nvPicPr>
          <p:cNvPr id="207962903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1795461" y="2519087"/>
            <a:ext cx="5864145" cy="3909430"/>
          </a:xfrm>
          <a:prstGeom prst="rect">
            <a:avLst/>
          </a:prstGeom>
        </p:spPr>
      </p:pic>
      <p:sp>
        <p:nvSpPr>
          <p:cNvPr id="619289902" name=""/>
          <p:cNvSpPr/>
          <p:nvPr/>
        </p:nvSpPr>
        <p:spPr bwMode="auto">
          <a:xfrm flipH="0" flipV="0">
            <a:off x="533743" y="1570037"/>
            <a:ext cx="10937025" cy="1006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Some recordings are full </a:t>
            </a:r>
            <a:r>
              <a:rPr sz="2000" b="1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polysomnography </a:t>
            </a:r>
            <a:r>
              <a:rPr sz="2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measurements, others are  </a:t>
            </a:r>
            <a:r>
              <a:rPr sz="2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2000" b="1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EEG</a:t>
            </a:r>
            <a:r>
              <a:rPr sz="2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rid</a:t>
            </a:r>
            <a:r>
              <a:rPr sz="20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measurements. Most subjects have both PSG and ceegrid recordings  from the same night, though a few are missing one or the other.</a:t>
            </a:r>
            <a:endParaRPr sz="20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2571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Volume, Velocity</a:t>
            </a:r>
            <a:endParaRPr sz="3200"/>
          </a:p>
        </p:txBody>
      </p:sp>
      <p:pic>
        <p:nvPicPr>
          <p:cNvPr id="8721233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149" y="1485900"/>
            <a:ext cx="11246126" cy="590549"/>
          </a:xfrm>
          <a:prstGeom prst="rect">
            <a:avLst/>
          </a:prstGeom>
        </p:spPr>
      </p:pic>
      <p:sp>
        <p:nvSpPr>
          <p:cNvPr id="12767194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7" y="2343150"/>
            <a:ext cx="11046649" cy="378301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20 responden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29 ‘sesi’ tidur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\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Tiap orang tiap malam tidur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4744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Variety</a:t>
            </a:r>
            <a:r>
              <a:rPr sz="3200"/>
              <a:t>, Veracity </a:t>
            </a:r>
            <a:r>
              <a:rPr lang="en-US" sz="3200" b="0" i="0" u="sng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  <a:hlinkClick r:id="rId3" tooltip=""/>
              </a:rPr>
              <a:t>https://onlinelibrary.wiley.com/doi/10.1111/jsr.12786</a:t>
            </a:r>
            <a:r>
              <a:rPr sz="3200"/>
              <a:t> </a:t>
            </a:r>
            <a:endParaRPr sz="3200"/>
          </a:p>
        </p:txBody>
      </p:sp>
      <p:sp>
        <p:nvSpPr>
          <p:cNvPr id="19981264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256 Hz sample</a:t>
            </a:r>
            <a:endParaRPr/>
          </a:p>
          <a:p>
            <a:pPr>
              <a:defRPr/>
            </a:pPr>
            <a:r>
              <a:rPr/>
              <a:t>Band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alpha (8–16 Hz), beta (16–32 Hz), theta (4–8 Hz) and delta (1–4 Hz)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117649010" name=""/>
          <p:cNvSpPr txBox="1"/>
          <p:nvPr/>
        </p:nvSpPr>
        <p:spPr bwMode="auto">
          <a:xfrm rot="0" flipH="0" flipV="0">
            <a:off x="1131191" y="3548062"/>
            <a:ext cx="6089518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/>
              <a:t>Feature 	Short description</a:t>
            </a:r>
            <a:endParaRPr sz="1400"/>
          </a:p>
          <a:p>
            <a:pPr algn="l">
              <a:defRPr/>
            </a:pPr>
            <a:r>
              <a:rPr sz="1400"/>
              <a:t>F1 	Signal skewness 	EEG time domain</a:t>
            </a:r>
            <a:endParaRPr sz="1400"/>
          </a:p>
          <a:p>
            <a:pPr algn="l">
              <a:defRPr/>
            </a:pPr>
            <a:r>
              <a:rPr sz="1400"/>
              <a:t>F2 	Signal kurtosis 	</a:t>
            </a:r>
            <a:endParaRPr sz="1400"/>
          </a:p>
          <a:p>
            <a:pPr algn="l">
              <a:defRPr/>
            </a:pPr>
            <a:r>
              <a:rPr sz="1400"/>
              <a:t>F3 	Zero crossing rate 	</a:t>
            </a:r>
            <a:endParaRPr sz="1400"/>
          </a:p>
          <a:p>
            <a:pPr algn="l">
              <a:defRPr/>
            </a:pPr>
            <a:r>
              <a:rPr sz="1400"/>
              <a:t>...</a:t>
            </a:r>
            <a:endParaRPr sz="1400"/>
          </a:p>
          <a:p>
            <a:pPr algn="l">
              <a:defRPr/>
            </a:pPr>
            <a:r>
              <a:rPr sz="1400"/>
              <a:t>F27 	Peak power frequency 	</a:t>
            </a:r>
            <a:endParaRPr sz="1400"/>
          </a:p>
          <a:p>
            <a:pPr algn="l">
              <a:defRPr/>
            </a:pPr>
            <a:r>
              <a:rPr sz="1400"/>
              <a:t>F28 	Spectral entropy 	</a:t>
            </a:r>
            <a:endParaRPr sz="1400"/>
          </a:p>
          <a:p>
            <a:pPr algn="l">
              <a:defRPr/>
            </a:pPr>
            <a:r>
              <a:rPr sz="1400"/>
              <a:t>F29 	Spindle probability 	Sleep event proxies</a:t>
            </a:r>
            <a:endParaRPr sz="1400"/>
          </a:p>
          <a:p>
            <a:pPr algn="l">
              <a:defRPr/>
            </a:pPr>
            <a:r>
              <a:rPr sz="1400"/>
              <a:t>F30 	Frequency stationarity 	</a:t>
            </a:r>
            <a:endParaRPr sz="1400"/>
          </a:p>
          <a:p>
            <a:pPr algn="l">
              <a:defRPr/>
            </a:pPr>
            <a:r>
              <a:rPr sz="1400"/>
              <a:t>F31 	Lowest adj. frequency similarity 	</a:t>
            </a:r>
            <a:endParaRPr sz="1400"/>
          </a:p>
          <a:p>
            <a:pPr algn="l">
              <a:defRPr/>
            </a:pPr>
            <a:r>
              <a:rPr sz="1400"/>
              <a:t>F32 	Largest CWT value 	</a:t>
            </a:r>
            <a:endParaRPr sz="1400"/>
          </a:p>
          <a:p>
            <a:pPr algn="l">
              <a:defRPr/>
            </a:pPr>
            <a:r>
              <a:rPr sz="1400"/>
              <a:t>F33 	Longest sleep spindle</a:t>
            </a:r>
            <a:endParaRPr sz="1400"/>
          </a:p>
        </p:txBody>
      </p:sp>
      <p:pic>
        <p:nvPicPr>
          <p:cNvPr id="213330000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1159" y="2948619"/>
            <a:ext cx="4656949" cy="3623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7223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Value</a:t>
            </a:r>
            <a:r>
              <a:rPr sz="3200"/>
              <a:t>: tidur nyenyak berapa lama?</a:t>
            </a:r>
            <a:endParaRPr sz="3200"/>
          </a:p>
        </p:txBody>
      </p:sp>
      <p:pic>
        <p:nvPicPr>
          <p:cNvPr id="2515618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3408" y="1200149"/>
            <a:ext cx="6489069" cy="5429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2069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More</a:t>
            </a:r>
            <a:r>
              <a:rPr sz="3200"/>
              <a:t> EEGs (biasanya dikaitkan dengan suatu aktivitas)</a:t>
            </a:r>
            <a:endParaRPr sz="3200"/>
          </a:p>
        </p:txBody>
      </p:sp>
      <p:sp>
        <p:nvSpPr>
          <p:cNvPr id="93944667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61947" y="1537494"/>
            <a:ext cx="11046649" cy="378301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3" tooltip=""/>
              </a:rPr>
              <a:t>https://nemar.org/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4" tooltip=""/>
              </a:rPr>
              <a:t>https://bdsp.io/content/hsp/2.0/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Human Sleep Project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5" tooltip=""/>
              </a:rPr>
              <a:t>https://sccn.ucsd.edu/~arno/fam2data/publicly_available_EEG_data.html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6" tooltip=""/>
              </a:rPr>
              <a:t>https://www.kaggle.com/datasets/quands/eeg-dataset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sng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  <a:hlinkClick r:id="rId7" tooltip=""/>
              </a:rPr>
              <a:t>https://archive.ics.uci.edu/dataset/264/eeg+eye+state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modified xsi:type="dcterms:W3CDTF">2026-04-29T05:57:22Z</dcterms:modified>
</cp:coreProperties>
</file>