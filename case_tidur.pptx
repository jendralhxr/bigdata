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09492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6828508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52999690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88505084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9375032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530311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7735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5250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554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6716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6752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CAC215-DFC8-02C2-50DC-486822E506F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1801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9520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806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805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021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837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30B4E3-1B01-1754-A4DD-7D9C78C141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0386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6585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947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FE1BA8-37E3-5594-DEC3-A985DCAD4A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1029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81495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82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5796CC-76F4-6E29-85C1-774CAF56B1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120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5645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834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C26038-00CE-E995-98B5-0EE780C520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12341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614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3120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E85033-81D1-A3C0-0457-66589181DC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6108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1683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55000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A3E0DB-41F8-4563-7802-0B8AEEDA4D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807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4457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301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AD8795-E035-1DDE-217C-16D90C9744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664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9405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7108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FFFFB6-1458-B34C-C4F0-21C5F8DE2E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107794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12102666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59230714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394987326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93956317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93104821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699416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153047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73530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976478972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3065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6670015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053352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371283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184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298808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7441977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4915954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845961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6173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16618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7205437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1183237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7190706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073527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7974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7285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04554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115876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9719616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8172598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93059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645101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60244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1389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4561009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1774471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169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128184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066080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48890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3698224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53665418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838104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349000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6521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41233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336275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9128009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200279801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488086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146526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21408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1188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2199429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3584016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255310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2710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0887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80081733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049627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063413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23034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0825685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29524164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854662337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97535812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118584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3177062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9808906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58970404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penneuro.org/datasets/ds005207/versions/1.0.0" TargetMode="External"/><Relationship Id="rId4" Type="http://schemas.openxmlformats.org/officeDocument/2006/relationships/hyperlink" Target="https://github.com/OpenNeuroDatasets/ds005207" TargetMode="External"/><Relationship Id="rId5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nlinelibrary.wiley.com/doi/10.1111/jsr.12786" TargetMode="External"/><Relationship Id="rId4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87292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[otak kita butuh] Tidur</a:t>
            </a:r>
            <a:endParaRPr sz="4800"/>
          </a:p>
        </p:txBody>
      </p:sp>
      <p:sp>
        <p:nvSpPr>
          <p:cNvPr id="1820945839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335308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87816" y="201232"/>
            <a:ext cx="7664109" cy="3447781"/>
          </a:xfrm>
          <a:prstGeom prst="rect">
            <a:avLst/>
          </a:prstGeom>
        </p:spPr>
      </p:pic>
      <p:pic>
        <p:nvPicPr>
          <p:cNvPr id="100988313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9124" y="4152331"/>
            <a:ext cx="10822349" cy="1638868"/>
          </a:xfrm>
          <a:prstGeom prst="rect">
            <a:avLst/>
          </a:prstGeom>
        </p:spPr>
      </p:pic>
      <p:sp>
        <p:nvSpPr>
          <p:cNvPr id="1526206682" name=""/>
          <p:cNvSpPr txBox="1"/>
          <p:nvPr/>
        </p:nvSpPr>
        <p:spPr bwMode="auto">
          <a:xfrm rot="0" flipH="0" flipV="0">
            <a:off x="7984983" y="3131820"/>
            <a:ext cx="2356131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https://openneuro.org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4307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Instumentasi akuisisi sekitaran kepala</a:t>
            </a:r>
            <a:endParaRPr sz="3200"/>
          </a:p>
        </p:txBody>
      </p:sp>
      <p:sp>
        <p:nvSpPr>
          <p:cNvPr id="159436562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MRI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magnetic resonance imaging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PET (positron emission tomography)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MEG (magnetoencephalography)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EEG (electro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iEEG (intracranial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NIRS (near infrared spectroscopy)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612105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050449" y="2649683"/>
            <a:ext cx="4902800" cy="4084490"/>
          </a:xfrm>
          <a:prstGeom prst="rect">
            <a:avLst/>
          </a:prstGeom>
        </p:spPr>
      </p:pic>
      <p:sp>
        <p:nvSpPr>
          <p:cNvPr id="2218583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MRI</a:t>
            </a:r>
            <a:endParaRPr sz="3200"/>
          </a:p>
        </p:txBody>
      </p:sp>
      <p:sp>
        <p:nvSpPr>
          <p:cNvPr id="35675225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Menembakkan medan magnet </a:t>
            </a:r>
            <a:r>
              <a:rPr b="0"/>
              <a:t>BUUUESAR</a:t>
            </a:r>
            <a:endParaRPr b="0"/>
          </a:p>
          <a:p>
            <a:pPr>
              <a:defRPr/>
            </a:pPr>
            <a:r>
              <a:rPr/>
              <a:t>Mengukur scan propagasi radial medan magnet, konsentrasi air (atau agen kontras)</a:t>
            </a:r>
            <a:endParaRPr/>
          </a:p>
          <a:p>
            <a:pPr>
              <a:defRPr/>
            </a:pPr>
            <a:r>
              <a:rPr/>
              <a:t>oven microwave 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7710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PET/CT scan</a:t>
            </a:r>
            <a:endParaRPr sz="3200"/>
          </a:p>
        </p:txBody>
      </p:sp>
      <p:sp>
        <p:nvSpPr>
          <p:cNvPr id="24844430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Menangkap citra dari gelombang gamma (PET) atau Rontgen/X-ray (CT)</a:t>
            </a:r>
            <a:endParaRPr/>
          </a:p>
          <a:p>
            <a:pPr>
              <a:defRPr/>
            </a:pPr>
            <a:r>
              <a:rPr/>
              <a:t>Bisa diperkuat dengan kontras agen radioaktif (memancarkan positron)</a:t>
            </a:r>
            <a:endParaRPr/>
          </a:p>
        </p:txBody>
      </p:sp>
      <p:pic>
        <p:nvPicPr>
          <p:cNvPr id="74056396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52499" y="3916362"/>
            <a:ext cx="4946762" cy="27701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994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EEG</a:t>
            </a:r>
            <a:endParaRPr sz="3200"/>
          </a:p>
        </p:txBody>
      </p:sp>
      <p:pic>
        <p:nvPicPr>
          <p:cNvPr id="843310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9649" y="1169987"/>
            <a:ext cx="3143250" cy="4762499"/>
          </a:xfrm>
          <a:prstGeom prst="rect">
            <a:avLst/>
          </a:prstGeom>
        </p:spPr>
      </p:pic>
      <p:sp>
        <p:nvSpPr>
          <p:cNvPr id="2115780756" name=""/>
          <p:cNvSpPr txBox="1"/>
          <p:nvPr/>
        </p:nvSpPr>
        <p:spPr bwMode="auto">
          <a:xfrm rot="0" flipH="0" flipV="0">
            <a:off x="103983" y="6236969"/>
            <a:ext cx="5430833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https://onlinelibrary.wiley.com/doi/10.1111/jsr.12786</a:t>
            </a:r>
            <a:endParaRPr/>
          </a:p>
        </p:txBody>
      </p:sp>
      <p:pic>
        <p:nvPicPr>
          <p:cNvPr id="13723397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419599" y="1169987"/>
            <a:ext cx="4552949" cy="4762499"/>
          </a:xfrm>
          <a:prstGeom prst="rect">
            <a:avLst/>
          </a:prstGeom>
        </p:spPr>
      </p:pic>
      <p:sp>
        <p:nvSpPr>
          <p:cNvPr id="288237966" name="Title 1"/>
          <p:cNvSpPr>
            <a:spLocks noGrp="1"/>
          </p:cNvSpPr>
          <p:nvPr/>
        </p:nvSpPr>
        <p:spPr bwMode="auto">
          <a:xfrm>
            <a:off x="9353548" y="4941887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>
              <a:spcBef>
                <a:spcPts val="0"/>
              </a:spcBef>
              <a:buNone/>
              <a:defRPr sz="44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sz="3200"/>
              <a:t>Intracranial?</a:t>
            </a:r>
            <a:endParaRPr sz="3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9446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NIRS (near-infrared, aliran darah</a:t>
            </a:r>
            <a:endParaRPr sz="3200"/>
          </a:p>
        </p:txBody>
      </p:sp>
      <p:pic>
        <p:nvPicPr>
          <p:cNvPr id="1625881089" name=""/>
          <p:cNvPicPr>
            <a:picLocks noChangeAspect="1"/>
          </p:cNvPicPr>
          <p:nvPr/>
        </p:nvPicPr>
        <p:blipFill>
          <a:blip r:embed="rId3"/>
          <a:srcRect l="0" t="5750" r="31123" b="0"/>
          <a:stretch/>
        </p:blipFill>
        <p:spPr bwMode="auto">
          <a:xfrm flipH="0" flipV="0">
            <a:off x="7429499" y="1857374"/>
            <a:ext cx="4643317" cy="2828925"/>
          </a:xfrm>
          <a:prstGeom prst="rect">
            <a:avLst/>
          </a:prstGeom>
        </p:spPr>
      </p:pic>
      <p:pic>
        <p:nvPicPr>
          <p:cNvPr id="271007118" name=""/>
          <p:cNvPicPr>
            <a:picLocks noChangeAspect="1"/>
          </p:cNvPicPr>
          <p:nvPr/>
        </p:nvPicPr>
        <p:blipFill>
          <a:blip r:embed="rId4"/>
          <a:srcRect l="-1176" t="1606" r="61622" b="11646"/>
          <a:stretch/>
        </p:blipFill>
        <p:spPr bwMode="auto">
          <a:xfrm flipH="0" flipV="0">
            <a:off x="95249" y="1857374"/>
            <a:ext cx="2446239" cy="3143250"/>
          </a:xfrm>
          <a:prstGeom prst="rect">
            <a:avLst/>
          </a:prstGeom>
        </p:spPr>
      </p:pic>
      <p:pic>
        <p:nvPicPr>
          <p:cNvPr id="156050227" name=""/>
          <p:cNvPicPr>
            <a:picLocks noChangeAspect="1"/>
          </p:cNvPicPr>
          <p:nvPr/>
        </p:nvPicPr>
        <p:blipFill>
          <a:blip r:embed="rId5"/>
          <a:srcRect l="27274" t="0" r="2136" b="5215"/>
          <a:stretch/>
        </p:blipFill>
        <p:spPr bwMode="auto">
          <a:xfrm flipH="0" flipV="0">
            <a:off x="2668949" y="1857374"/>
            <a:ext cx="4686300" cy="2720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397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https://openneuro.org/datasets/ds005207/versions/1.0.0</a:t>
            </a:r>
            <a:br>
              <a:rPr sz="3200"/>
            </a:b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4" tooltip=""/>
              </a:rPr>
              <a:t>https://github.com/OpenNeuroDatasets/ds005207</a:t>
            </a:r>
            <a:endParaRPr sz="3200"/>
          </a:p>
        </p:txBody>
      </p:sp>
      <p:pic>
        <p:nvPicPr>
          <p:cNvPr id="37236489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795461" y="2519087"/>
            <a:ext cx="5864145" cy="3909430"/>
          </a:xfrm>
          <a:prstGeom prst="rect">
            <a:avLst/>
          </a:prstGeom>
        </p:spPr>
      </p:pic>
      <p:sp>
        <p:nvSpPr>
          <p:cNvPr id="1800729626" name=""/>
          <p:cNvSpPr/>
          <p:nvPr/>
        </p:nvSpPr>
        <p:spPr bwMode="auto">
          <a:xfrm flipH="0" flipV="0">
            <a:off x="533743" y="1570037"/>
            <a:ext cx="10937025" cy="10061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Some recordings are full 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polysomnography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measurements, others are 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EEG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rid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measurements. Most subjects have both PSG and ceegrid recordings  from the same night, though a few are missing one or the other.</a:t>
            </a:r>
            <a:endParaRPr sz="2000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1848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Volume, Velocity</a:t>
            </a:r>
            <a:endParaRPr sz="3200"/>
          </a:p>
        </p:txBody>
      </p:sp>
      <p:pic>
        <p:nvPicPr>
          <p:cNvPr id="9818555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8149" y="1485900"/>
            <a:ext cx="11246126" cy="590549"/>
          </a:xfrm>
          <a:prstGeom prst="rect">
            <a:avLst/>
          </a:prstGeom>
        </p:spPr>
      </p:pic>
      <p:sp>
        <p:nvSpPr>
          <p:cNvPr id="4747923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7" y="2343150"/>
            <a:ext cx="11046649" cy="37830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20 responden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29 ‘sesi’ tidur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\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Tiap orang tiap malam tidur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862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Variety</a:t>
            </a:r>
            <a:r>
              <a:rPr sz="3200"/>
              <a:t>, Veracity </a:t>
            </a: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https://onlinelibrary.wiley.com/doi/10.1111/jsr.12786</a:t>
            </a:r>
            <a:r>
              <a:rPr sz="3200"/>
              <a:t> </a:t>
            </a:r>
            <a:endParaRPr sz="3200"/>
          </a:p>
        </p:txBody>
      </p:sp>
      <p:sp>
        <p:nvSpPr>
          <p:cNvPr id="168480207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256 Hz sample</a:t>
            </a:r>
            <a:endParaRPr/>
          </a:p>
          <a:p>
            <a:pPr>
              <a:defRPr/>
            </a:pPr>
            <a:r>
              <a:rPr/>
              <a:t>Band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alpha (8–16 Hz), beta (16–32 Hz), theta (4–8 Hz) and delta (1–4 Hz)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1527687065" name=""/>
          <p:cNvSpPr txBox="1"/>
          <p:nvPr/>
        </p:nvSpPr>
        <p:spPr bwMode="auto">
          <a:xfrm rot="0" flipH="0" flipV="0">
            <a:off x="1131191" y="3548062"/>
            <a:ext cx="6089518" cy="2652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/>
              <a:t>Feature 	Short description</a:t>
            </a:r>
            <a:endParaRPr sz="1400"/>
          </a:p>
          <a:p>
            <a:pPr algn="l">
              <a:defRPr/>
            </a:pPr>
            <a:r>
              <a:rPr sz="1400"/>
              <a:t>F1 	Signal skewness 	EEG time domain</a:t>
            </a:r>
            <a:endParaRPr sz="1400"/>
          </a:p>
          <a:p>
            <a:pPr algn="l">
              <a:defRPr/>
            </a:pPr>
            <a:r>
              <a:rPr sz="1400"/>
              <a:t>F2 	Signal kurtosis 	</a:t>
            </a:r>
            <a:endParaRPr sz="1400"/>
          </a:p>
          <a:p>
            <a:pPr algn="l">
              <a:defRPr/>
            </a:pPr>
            <a:r>
              <a:rPr sz="1400"/>
              <a:t>F3 	Zero crossing rate 	</a:t>
            </a:r>
            <a:endParaRPr sz="1400"/>
          </a:p>
          <a:p>
            <a:pPr algn="l">
              <a:defRPr/>
            </a:pPr>
            <a:r>
              <a:rPr sz="1400"/>
              <a:t>...</a:t>
            </a:r>
            <a:endParaRPr sz="1400"/>
          </a:p>
          <a:p>
            <a:pPr algn="l">
              <a:defRPr/>
            </a:pPr>
            <a:r>
              <a:rPr sz="1400"/>
              <a:t>F27 	Peak power frequency 	</a:t>
            </a:r>
            <a:endParaRPr sz="1400"/>
          </a:p>
          <a:p>
            <a:pPr algn="l">
              <a:defRPr/>
            </a:pPr>
            <a:r>
              <a:rPr sz="1400"/>
              <a:t>F28 	Spectral entropy 	</a:t>
            </a:r>
            <a:endParaRPr sz="1400"/>
          </a:p>
          <a:p>
            <a:pPr algn="l">
              <a:defRPr/>
            </a:pPr>
            <a:r>
              <a:rPr sz="1400"/>
              <a:t>F29 	Spindle probability 	Sleep event proxies</a:t>
            </a:r>
            <a:endParaRPr sz="1400"/>
          </a:p>
          <a:p>
            <a:pPr algn="l">
              <a:defRPr/>
            </a:pPr>
            <a:r>
              <a:rPr sz="1400"/>
              <a:t>F30 	Frequency stationarity 	</a:t>
            </a:r>
            <a:endParaRPr sz="1400"/>
          </a:p>
          <a:p>
            <a:pPr algn="l">
              <a:defRPr/>
            </a:pPr>
            <a:r>
              <a:rPr sz="1400"/>
              <a:t>F31 	Lowest adj. frequency similarity 	</a:t>
            </a:r>
            <a:endParaRPr sz="1400"/>
          </a:p>
          <a:p>
            <a:pPr algn="l">
              <a:defRPr/>
            </a:pPr>
            <a:r>
              <a:rPr sz="1400"/>
              <a:t>F32 	Largest CWT value 	</a:t>
            </a:r>
            <a:endParaRPr sz="1400"/>
          </a:p>
          <a:p>
            <a:pPr algn="l">
              <a:defRPr/>
            </a:pPr>
            <a:r>
              <a:rPr sz="1400"/>
              <a:t>F33 	Longest sleep spindle</a:t>
            </a:r>
            <a:endParaRPr sz="1400"/>
          </a:p>
        </p:txBody>
      </p:sp>
      <p:pic>
        <p:nvPicPr>
          <p:cNvPr id="86485676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1160" y="2948619"/>
            <a:ext cx="4656949" cy="36236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7218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Value</a:t>
            </a:r>
            <a:r>
              <a:rPr sz="3200"/>
              <a:t>: tidur nyenyak berapa lama?</a:t>
            </a:r>
            <a:endParaRPr sz="3200"/>
          </a:p>
        </p:txBody>
      </p:sp>
      <p:pic>
        <p:nvPicPr>
          <p:cNvPr id="7771401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33408" y="1200149"/>
            <a:ext cx="6489069" cy="5429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2026-04-29T04:36:46Z</dcterms:modified>
</cp:coreProperties>
</file>