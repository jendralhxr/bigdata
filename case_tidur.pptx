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6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67107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47074805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2111310272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570297500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40315963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7869278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91875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82206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58769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46716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867528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3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CAC215-DFC8-02C2-50DC-486822E506F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92906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723858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36962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37DDC1E-C0CD-C052-6756-8F8E379A3F0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88054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7021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48379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30B4E3-1B01-1754-A4DD-7D9C78C141F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303863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365851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947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FE1BA8-37E3-5594-DEC3-A985DCAD4A7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1029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581495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1822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5796CC-76F4-6E29-85C1-774CAF56B15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91201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956454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9834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C26038-00CE-E995-98B5-0EE780C5205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12341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5614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31200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FE85033-81D1-A3C0-0457-66589181DC3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6108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116838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55000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A3E0DB-41F8-4563-7802-0B8AEEDA4D0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8077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544577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3018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AD8795-E035-1DDE-217C-16D90C97442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46649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119405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27108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CFFFFB6-1458-B34C-C4F0-21C5F8DE2E4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06023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617642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58241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D01EE2-A271-2A8C-597A-4D9902D647F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3619964" name="Shape 1059"/>
          <p:cNvSpPr>
            <a:spLocks noChangeArrowheads="1" noGrp="1"/>
          </p:cNvSpPr>
          <p:nvPr userDrawn="1"/>
        </p:nvSpPr>
        <p:spPr bwMode="auto">
          <a:xfrm>
            <a:off x="2396066" y="2291401"/>
            <a:ext cx="5452533" cy="416511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2112" y="3116"/>
                </a:moveTo>
                <a:lnTo>
                  <a:pt x="22112" y="3116"/>
                </a:lnTo>
                <a:cubicBezTo>
                  <a:pt x="22112" y="3116"/>
                  <a:pt x="27356" y="0"/>
                  <a:pt x="30300" y="4263"/>
                </a:cubicBezTo>
                <a:lnTo>
                  <a:pt x="30300" y="4263"/>
                </a:lnTo>
                <a:cubicBezTo>
                  <a:pt x="33277" y="8577"/>
                  <a:pt x="36666" y="13779"/>
                  <a:pt x="39369" y="17410"/>
                </a:cubicBezTo>
                <a:lnTo>
                  <a:pt x="39369" y="17410"/>
                </a:lnTo>
                <a:cubicBezTo>
                  <a:pt x="41761" y="20624"/>
                  <a:pt x="43200" y="22708"/>
                  <a:pt x="40979" y="26940"/>
                </a:cubicBezTo>
                <a:lnTo>
                  <a:pt x="40979" y="26940"/>
                </a:lnTo>
                <a:cubicBezTo>
                  <a:pt x="39655" y="29461"/>
                  <a:pt x="35076" y="35072"/>
                  <a:pt x="32639" y="38623"/>
                </a:cubicBezTo>
                <a:lnTo>
                  <a:pt x="32639" y="38623"/>
                </a:lnTo>
                <a:cubicBezTo>
                  <a:pt x="30200" y="42175"/>
                  <a:pt x="26202" y="43200"/>
                  <a:pt x="23268" y="42185"/>
                </a:cubicBezTo>
                <a:lnTo>
                  <a:pt x="23268" y="42185"/>
                </a:lnTo>
                <a:cubicBezTo>
                  <a:pt x="20331" y="41168"/>
                  <a:pt x="11584" y="38623"/>
                  <a:pt x="6213" y="36974"/>
                </a:cubicBezTo>
                <a:lnTo>
                  <a:pt x="6213" y="36974"/>
                </a:lnTo>
                <a:cubicBezTo>
                  <a:pt x="1431" y="35502"/>
                  <a:pt x="0" y="32900"/>
                  <a:pt x="214" y="31157"/>
                </a:cubicBezTo>
                <a:lnTo>
                  <a:pt x="214" y="31157"/>
                </a:lnTo>
                <a:cubicBezTo>
                  <a:pt x="760" y="26703"/>
                  <a:pt x="1113" y="19920"/>
                  <a:pt x="1214" y="16042"/>
                </a:cubicBezTo>
                <a:lnTo>
                  <a:pt x="1214" y="16042"/>
                </a:lnTo>
                <a:cubicBezTo>
                  <a:pt x="1303" y="12626"/>
                  <a:pt x="4203" y="11313"/>
                  <a:pt x="6907" y="9989"/>
                </a:cubicBezTo>
                <a:lnTo>
                  <a:pt x="6907" y="9989"/>
                </a:lnTo>
                <a:cubicBezTo>
                  <a:pt x="9245" y="8843"/>
                  <a:pt x="19774" y="4261"/>
                  <a:pt x="22112" y="3116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749424952" name="Shape 1060"/>
          <p:cNvSpPr>
            <a:spLocks noChangeArrowheads="1" noGrp="1"/>
          </p:cNvSpPr>
          <p:nvPr userDrawn="1"/>
        </p:nvSpPr>
        <p:spPr bwMode="auto">
          <a:xfrm>
            <a:off x="1309514" y="1839834"/>
            <a:ext cx="4011787" cy="1314324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0162" y="13104"/>
                </a:moveTo>
                <a:lnTo>
                  <a:pt x="40162" y="13104"/>
                </a:lnTo>
                <a:cubicBezTo>
                  <a:pt x="36799" y="16736"/>
                  <a:pt x="26204" y="28154"/>
                  <a:pt x="22676" y="31251"/>
                </a:cubicBezTo>
                <a:lnTo>
                  <a:pt x="22676" y="31251"/>
                </a:lnTo>
                <a:cubicBezTo>
                  <a:pt x="18513" y="34899"/>
                  <a:pt x="15093" y="37527"/>
                  <a:pt x="13136" y="38511"/>
                </a:cubicBezTo>
                <a:lnTo>
                  <a:pt x="13136" y="38511"/>
                </a:lnTo>
                <a:cubicBezTo>
                  <a:pt x="10861" y="39650"/>
                  <a:pt x="0" y="43200"/>
                  <a:pt x="422" y="38511"/>
                </a:cubicBezTo>
                <a:lnTo>
                  <a:pt x="422" y="38511"/>
                </a:lnTo>
                <a:cubicBezTo>
                  <a:pt x="750" y="34836"/>
                  <a:pt x="12785" y="17028"/>
                  <a:pt x="15584" y="14358"/>
                </a:cubicBezTo>
                <a:lnTo>
                  <a:pt x="15584" y="14358"/>
                </a:lnTo>
                <a:cubicBezTo>
                  <a:pt x="18382" y="11693"/>
                  <a:pt x="34508" y="0"/>
                  <a:pt x="36286" y="2133"/>
                </a:cubicBezTo>
                <a:lnTo>
                  <a:pt x="36286" y="2133"/>
                </a:lnTo>
                <a:cubicBezTo>
                  <a:pt x="38064" y="4272"/>
                  <a:pt x="43200" y="9825"/>
                  <a:pt x="40162" y="1310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363512704" name="Shape 1061"/>
          <p:cNvSpPr>
            <a:spLocks noChangeArrowheads="1" noGrp="1"/>
          </p:cNvSpPr>
          <p:nvPr userDrawn="1"/>
        </p:nvSpPr>
        <p:spPr bwMode="auto">
          <a:xfrm>
            <a:off x="6567030" y="4629133"/>
            <a:ext cx="5395523" cy="2231707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42680" y="32337"/>
                  <a:pt x="42264" y="24810"/>
                  <a:pt x="41982" y="22533"/>
                </a:cubicBezTo>
                <a:lnTo>
                  <a:pt x="41982" y="22533"/>
                </a:lnTo>
                <a:cubicBezTo>
                  <a:pt x="41353" y="17445"/>
                  <a:pt x="31020" y="10782"/>
                  <a:pt x="25434" y="7567"/>
                </a:cubicBezTo>
                <a:lnTo>
                  <a:pt x="25434" y="7567"/>
                </a:lnTo>
                <a:cubicBezTo>
                  <a:pt x="20461" y="4707"/>
                  <a:pt x="15752" y="0"/>
                  <a:pt x="10688" y="12771"/>
                </a:cubicBezTo>
                <a:lnTo>
                  <a:pt x="10688" y="12771"/>
                </a:lnTo>
                <a:cubicBezTo>
                  <a:pt x="5409" y="26085"/>
                  <a:pt x="2329" y="33891"/>
                  <a:pt x="451" y="39632"/>
                </a:cubicBezTo>
                <a:lnTo>
                  <a:pt x="451" y="39632"/>
                </a:lnTo>
                <a:cubicBezTo>
                  <a:pt x="180" y="40459"/>
                  <a:pt x="44" y="41820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114834722" name="Shape 1062"/>
          <p:cNvSpPr>
            <a:spLocks noChangeArrowheads="1" noGrp="1"/>
          </p:cNvSpPr>
          <p:nvPr userDrawn="1"/>
        </p:nvSpPr>
        <p:spPr bwMode="auto">
          <a:xfrm>
            <a:off x="389187" y="6100774"/>
            <a:ext cx="4968521" cy="75999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37750" y="34083"/>
                  <a:pt x="28707" y="20178"/>
                  <a:pt x="28707" y="20178"/>
                </a:cubicBezTo>
                <a:lnTo>
                  <a:pt x="28707" y="20178"/>
                </a:lnTo>
                <a:cubicBezTo>
                  <a:pt x="23196" y="11772"/>
                  <a:pt x="17935" y="0"/>
                  <a:pt x="14588" y="1341"/>
                </a:cubicBezTo>
                <a:lnTo>
                  <a:pt x="14588" y="1341"/>
                </a:lnTo>
                <a:cubicBezTo>
                  <a:pt x="11240" y="2673"/>
                  <a:pt x="6350" y="22671"/>
                  <a:pt x="1602" y="37718"/>
                </a:cubicBezTo>
                <a:lnTo>
                  <a:pt x="1602" y="37718"/>
                </a:lnTo>
                <a:cubicBezTo>
                  <a:pt x="1072" y="39393"/>
                  <a:pt x="536" y="41175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763116063" name="Shape 1063"/>
          <p:cNvSpPr>
            <a:spLocks noChangeArrowheads="1" noGrp="1"/>
          </p:cNvSpPr>
          <p:nvPr userDrawn="1"/>
        </p:nvSpPr>
        <p:spPr bwMode="auto">
          <a:xfrm>
            <a:off x="0" y="3254701"/>
            <a:ext cx="2099733" cy="3343682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43200"/>
                </a:moveTo>
                <a:lnTo>
                  <a:pt x="0" y="43200"/>
                </a:lnTo>
                <a:cubicBezTo>
                  <a:pt x="10450" y="39319"/>
                  <a:pt x="26476" y="34991"/>
                  <a:pt x="31760" y="32779"/>
                </a:cubicBezTo>
                <a:lnTo>
                  <a:pt x="31760" y="32779"/>
                </a:lnTo>
                <a:cubicBezTo>
                  <a:pt x="38554" y="29929"/>
                  <a:pt x="35982" y="23868"/>
                  <a:pt x="39587" y="11934"/>
                </a:cubicBezTo>
                <a:lnTo>
                  <a:pt x="39587" y="11934"/>
                </a:lnTo>
                <a:cubicBezTo>
                  <a:pt x="43199" y="0"/>
                  <a:pt x="33409" y="2565"/>
                  <a:pt x="25082" y="2041"/>
                </a:cubicBezTo>
                <a:lnTo>
                  <a:pt x="25082" y="2041"/>
                </a:lnTo>
                <a:cubicBezTo>
                  <a:pt x="14497" y="1374"/>
                  <a:pt x="7053" y="4621"/>
                  <a:pt x="0" y="7243"/>
                </a:cubicBezTo>
                <a:lnTo>
                  <a:pt x="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718197146" name="Subtitle 2"/>
          <p:cNvSpPr>
            <a:spLocks noGrp="1"/>
          </p:cNvSpPr>
          <p:nvPr>
            <p:ph type="subTitle" idx="1"/>
          </p:nvPr>
        </p:nvSpPr>
        <p:spPr bwMode="auto">
          <a:xfrm>
            <a:off x="4655839" y="2708919"/>
            <a:ext cx="6720745" cy="720079"/>
          </a:xfrm>
        </p:spPr>
        <p:txBody>
          <a:bodyPr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105215937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83306625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6990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  <p:sp>
        <p:nvSpPr>
          <p:cNvPr id="896733719" name="Title 6"/>
          <p:cNvSpPr>
            <a:spLocks noGrp="1"/>
          </p:cNvSpPr>
          <p:nvPr>
            <p:ph type="title"/>
          </p:nvPr>
        </p:nvSpPr>
        <p:spPr bwMode="auto">
          <a:xfrm>
            <a:off x="4595833" y="1808820"/>
            <a:ext cx="6720745" cy="720079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719070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08450719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02576878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77898824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05201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9747600" name="Title 1"/>
          <p:cNvSpPr>
            <a:spLocks noGrp="1"/>
          </p:cNvSpPr>
          <p:nvPr>
            <p:ph type="title"/>
          </p:nvPr>
        </p:nvSpPr>
        <p:spPr bwMode="auto">
          <a:xfrm>
            <a:off x="963083" y="4406901"/>
            <a:ext cx="10363199" cy="136207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7227820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63083" y="2906713"/>
            <a:ext cx="10363199" cy="150018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43943833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6556723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489147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43135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167989871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08505908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94034432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69269254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43322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34185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70522890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55502710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09599" y="2174874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061605329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70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29077442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70" y="2174874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666060013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903575020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809303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74610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06917684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574749017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6727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891581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01554624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9455620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4706519" name="Title 1"/>
          <p:cNvSpPr>
            <a:spLocks noGrp="1"/>
          </p:cNvSpPr>
          <p:nvPr>
            <p:ph type="title"/>
          </p:nvPr>
        </p:nvSpPr>
        <p:spPr bwMode="auto">
          <a:xfrm>
            <a:off x="609603" y="273049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518130021" name="Content Placeholder 2"/>
          <p:cNvSpPr>
            <a:spLocks noGrp="1"/>
          </p:cNvSpPr>
          <p:nvPr>
            <p:ph idx="1"/>
          </p:nvPr>
        </p:nvSpPr>
        <p:spPr bwMode="auto">
          <a:xfrm>
            <a:off x="4766732" y="273051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7492760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09603" y="1435102"/>
            <a:ext cx="4011084" cy="46910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26794879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0807304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240275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9721950" name="Title 1"/>
          <p:cNvSpPr>
            <a:spLocks noGrp="1"/>
          </p:cNvSpPr>
          <p:nvPr>
            <p:ph type="title"/>
          </p:nvPr>
        </p:nvSpPr>
        <p:spPr bwMode="auto">
          <a:xfrm>
            <a:off x="2389717" y="4800601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77908309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389717" y="612774"/>
            <a:ext cx="7315200" cy="41147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203107808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96429674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32384214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126686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106459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40438447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53563194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64620944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17998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7141821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274639"/>
            <a:ext cx="2743200" cy="5851525"/>
          </a:xfrm>
        </p:spPr>
        <p:txBody>
          <a:bodyPr vert="eaVert"/>
          <a:lstStyle>
            <a:lvl1pPr algn="ct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58762697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274639"/>
            <a:ext cx="8026399" cy="5851525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4412997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30195491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38124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4308034" name="Shape 1059"/>
          <p:cNvSpPr>
            <a:spLocks noChangeArrowheads="1" noGrp="1"/>
          </p:cNvSpPr>
          <p:nvPr userDrawn="1"/>
        </p:nvSpPr>
        <p:spPr bwMode="auto">
          <a:xfrm>
            <a:off x="4976706" y="2"/>
            <a:ext cx="3058159" cy="89379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0"/>
                </a:moveTo>
                <a:lnTo>
                  <a:pt x="0" y="0"/>
                </a:lnTo>
                <a:cubicBezTo>
                  <a:pt x="1690" y="6213"/>
                  <a:pt x="3698" y="13338"/>
                  <a:pt x="6091" y="21902"/>
                </a:cubicBezTo>
                <a:lnTo>
                  <a:pt x="6091" y="21902"/>
                </a:lnTo>
                <a:cubicBezTo>
                  <a:pt x="12043" y="43199"/>
                  <a:pt x="17573" y="35347"/>
                  <a:pt x="23417" y="30579"/>
                </a:cubicBezTo>
                <a:lnTo>
                  <a:pt x="23417" y="30579"/>
                </a:lnTo>
                <a:cubicBezTo>
                  <a:pt x="29984" y="25223"/>
                  <a:pt x="42123" y="14119"/>
                  <a:pt x="42860" y="5640"/>
                </a:cubicBezTo>
                <a:lnTo>
                  <a:pt x="42860" y="5640"/>
                </a:lnTo>
                <a:cubicBezTo>
                  <a:pt x="42960" y="4507"/>
                  <a:pt x="43072" y="2479"/>
                  <a:pt x="43200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752123529" name="Shape 1060"/>
          <p:cNvSpPr>
            <a:spLocks noChangeArrowheads="1" noGrp="1"/>
          </p:cNvSpPr>
          <p:nvPr userDrawn="1"/>
        </p:nvSpPr>
        <p:spPr bwMode="auto">
          <a:xfrm>
            <a:off x="-24679" y="1"/>
            <a:ext cx="1399539" cy="179755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1743" y="2484"/>
                </a:moveTo>
                <a:lnTo>
                  <a:pt x="31743" y="2484"/>
                </a:lnTo>
                <a:cubicBezTo>
                  <a:pt x="30428" y="1799"/>
                  <a:pt x="28450" y="1080"/>
                  <a:pt x="26054" y="0"/>
                </a:cubicBezTo>
                <a:lnTo>
                  <a:pt x="0" y="0"/>
                </a:lnTo>
                <a:lnTo>
                  <a:pt x="0" y="34200"/>
                </a:lnTo>
                <a:lnTo>
                  <a:pt x="0" y="34200"/>
                </a:lnTo>
                <a:cubicBezTo>
                  <a:pt x="7029" y="37461"/>
                  <a:pt x="14504" y="41491"/>
                  <a:pt x="25070" y="40664"/>
                </a:cubicBezTo>
                <a:lnTo>
                  <a:pt x="25070" y="40664"/>
                </a:lnTo>
                <a:cubicBezTo>
                  <a:pt x="33399" y="40015"/>
                  <a:pt x="43200" y="43200"/>
                  <a:pt x="39593" y="28375"/>
                </a:cubicBezTo>
                <a:lnTo>
                  <a:pt x="39593" y="28375"/>
                </a:lnTo>
                <a:cubicBezTo>
                  <a:pt x="35986" y="13550"/>
                  <a:pt x="38530" y="6023"/>
                  <a:pt x="31743" y="248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66552529" name="Shape 1061"/>
          <p:cNvSpPr>
            <a:spLocks noChangeArrowheads="1" noGrp="1"/>
          </p:cNvSpPr>
          <p:nvPr userDrawn="1"/>
        </p:nvSpPr>
        <p:spPr bwMode="auto">
          <a:xfrm>
            <a:off x="1637456" y="1"/>
            <a:ext cx="3839633" cy="260965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2864" y="0"/>
                </a:moveTo>
                <a:lnTo>
                  <a:pt x="10583" y="0"/>
                </a:lnTo>
                <a:lnTo>
                  <a:pt x="10583" y="0"/>
                </a:lnTo>
                <a:cubicBezTo>
                  <a:pt x="9017" y="532"/>
                  <a:pt x="7515" y="1058"/>
                  <a:pt x="6214" y="1509"/>
                </a:cubicBezTo>
                <a:lnTo>
                  <a:pt x="6214" y="1509"/>
                </a:lnTo>
                <a:cubicBezTo>
                  <a:pt x="1428" y="3166"/>
                  <a:pt x="0" y="6109"/>
                  <a:pt x="212" y="8072"/>
                </a:cubicBezTo>
                <a:lnTo>
                  <a:pt x="212" y="8072"/>
                </a:lnTo>
                <a:cubicBezTo>
                  <a:pt x="758" y="13092"/>
                  <a:pt x="1111" y="20742"/>
                  <a:pt x="1212" y="25114"/>
                </a:cubicBezTo>
                <a:lnTo>
                  <a:pt x="1212" y="25114"/>
                </a:lnTo>
                <a:cubicBezTo>
                  <a:pt x="1301" y="28962"/>
                  <a:pt x="4204" y="30446"/>
                  <a:pt x="6906" y="31937"/>
                </a:cubicBezTo>
                <a:lnTo>
                  <a:pt x="6906" y="31937"/>
                </a:lnTo>
                <a:cubicBezTo>
                  <a:pt x="9246" y="33229"/>
                  <a:pt x="19775" y="38395"/>
                  <a:pt x="22112" y="39685"/>
                </a:cubicBezTo>
                <a:lnTo>
                  <a:pt x="22112" y="39685"/>
                </a:lnTo>
                <a:cubicBezTo>
                  <a:pt x="22112" y="39685"/>
                  <a:pt x="27355" y="43200"/>
                  <a:pt x="30298" y="38395"/>
                </a:cubicBezTo>
                <a:lnTo>
                  <a:pt x="30298" y="38395"/>
                </a:lnTo>
                <a:cubicBezTo>
                  <a:pt x="33277" y="33533"/>
                  <a:pt x="36665" y="27667"/>
                  <a:pt x="39367" y="23576"/>
                </a:cubicBezTo>
                <a:lnTo>
                  <a:pt x="39367" y="23576"/>
                </a:lnTo>
                <a:cubicBezTo>
                  <a:pt x="41761" y="19953"/>
                  <a:pt x="43200" y="17587"/>
                  <a:pt x="40977" y="12816"/>
                </a:cubicBezTo>
                <a:lnTo>
                  <a:pt x="40977" y="12816"/>
                </a:lnTo>
                <a:cubicBezTo>
                  <a:pt x="39697" y="10062"/>
                  <a:pt x="35347" y="3936"/>
                  <a:pt x="32864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967317750" name="Title 1"/>
          <p:cNvSpPr>
            <a:spLocks noGrp="1"/>
          </p:cNvSpPr>
          <p:nvPr>
            <p:ph type="title"/>
          </p:nvPr>
        </p:nvSpPr>
        <p:spPr bwMode="auto">
          <a:xfrm>
            <a:off x="609599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78066840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600201"/>
            <a:ext cx="10972800" cy="4525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76281088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09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25112697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165599" y="6356351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921442593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737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0">
        <a:spcBef>
          <a:spcPts val="0"/>
        </a:spcBef>
        <a:buNone/>
        <a:defRPr sz="4400">
          <a:solidFill>
            <a:schemeClr val="tx1">
              <a:lumMod val="65000"/>
              <a:lumOff val="35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599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doi.org/10.1016/j.ics.2004.05.052" TargetMode="External"/><Relationship Id="rId6" Type="http://schemas.openxmlformats.org/officeDocument/2006/relationships/hyperlink" Target="https://www.clinicalguidelines.scot.nhs.uk/ggc-paediatric-guidelines/ggc-paediatric-guidelines/anaesthetics/near-infrared-spectroscopy-nirs-guideline-1072/" TargetMode="External"/><Relationship Id="rId7" Type="http://schemas.openxmlformats.org/officeDocument/2006/relationships/image" Target="../media/image9.png"/><Relationship Id="rId8" Type="http://schemas.openxmlformats.org/officeDocument/2006/relationships/hyperlink" Target="https://www.artinis.com/nirs-eeg-package" TargetMode="Externa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openneuro.org/datasets/ds005207/versions/1.0.0" TargetMode="External"/><Relationship Id="rId4" Type="http://schemas.openxmlformats.org/officeDocument/2006/relationships/hyperlink" Target="https://github.com/OpenNeuroDatasets/ds005207" TargetMode="External"/><Relationship Id="rId5" Type="http://schemas.openxmlformats.org/officeDocument/2006/relationships/image" Target="../media/image10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nlinelibrary.wiley.com/doi/10.1111/jsr.12786" TargetMode="External"/><Relationship Id="rId4" Type="http://schemas.openxmlformats.org/officeDocument/2006/relationships/image" Target="../media/image12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nemar.org/" TargetMode="External"/><Relationship Id="rId4" Type="http://schemas.openxmlformats.org/officeDocument/2006/relationships/hyperlink" Target="https://sccn.ucsd.edu/~arno/fam2data/publicly_available_EEG_data.html" TargetMode="External"/><Relationship Id="rId5" Type="http://schemas.openxmlformats.org/officeDocument/2006/relationships/hyperlink" Target="https://www.kaggle.com/datasets/quands/eeg-dataset" TargetMode="External"/><Relationship Id="rId6" Type="http://schemas.openxmlformats.org/officeDocument/2006/relationships/hyperlink" Target="https://archive.ics.uci.edu/dataset/264/eeg+eye+stat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9817909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802049" y="2381248"/>
            <a:ext cx="10781226" cy="193834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800"/>
              <a:t>Big Data: </a:t>
            </a:r>
            <a:r>
              <a:rPr lang="en-US" sz="4800" b="1"/>
              <a:t>[otak kita butuh] Tidur</a:t>
            </a:r>
            <a:endParaRPr sz="4800"/>
          </a:p>
        </p:txBody>
      </p:sp>
      <p:sp>
        <p:nvSpPr>
          <p:cNvPr id="204737971" name=""/>
          <p:cNvSpPr txBox="1"/>
          <p:nvPr/>
        </p:nvSpPr>
        <p:spPr bwMode="auto">
          <a:xfrm rot="0" flipH="0" flipV="0">
            <a:off x="8175183" y="6395719"/>
            <a:ext cx="3868032" cy="365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/>
              <a:t>https://github.com/jendralhxr/bigdata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3353081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87816" y="201232"/>
            <a:ext cx="7664109" cy="3447781"/>
          </a:xfrm>
          <a:prstGeom prst="rect">
            <a:avLst/>
          </a:prstGeom>
        </p:spPr>
      </p:pic>
      <p:pic>
        <p:nvPicPr>
          <p:cNvPr id="1009883136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99124" y="4152331"/>
            <a:ext cx="10822349" cy="1638868"/>
          </a:xfrm>
          <a:prstGeom prst="rect">
            <a:avLst/>
          </a:prstGeom>
        </p:spPr>
      </p:pic>
      <p:sp>
        <p:nvSpPr>
          <p:cNvPr id="1526206682" name=""/>
          <p:cNvSpPr txBox="1"/>
          <p:nvPr/>
        </p:nvSpPr>
        <p:spPr bwMode="auto">
          <a:xfrm rot="0" flipH="0" flipV="0">
            <a:off x="7984983" y="3131820"/>
            <a:ext cx="2356131" cy="365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/>
              <a:t>https://openneuro.org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741574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Instumentasi akuisisi sekitaran kepala</a:t>
            </a:r>
            <a:endParaRPr sz="3200"/>
          </a:p>
        </p:txBody>
      </p:sp>
      <p:sp>
        <p:nvSpPr>
          <p:cNvPr id="1047416253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8" y="1600200"/>
            <a:ext cx="11046650" cy="452596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MRI (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magnetic resonance imaging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PET (positron emission tomography)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MEG (magnetoencephalography)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EEG (electro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encephalography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iEEG (intracranial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electro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encephalography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NIRS (near infrared spectroscopy)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6121054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050449" y="2649683"/>
            <a:ext cx="4902800" cy="4084490"/>
          </a:xfrm>
          <a:prstGeom prst="rect">
            <a:avLst/>
          </a:prstGeom>
        </p:spPr>
      </p:pic>
      <p:sp>
        <p:nvSpPr>
          <p:cNvPr id="22185834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MRI</a:t>
            </a:r>
            <a:endParaRPr sz="3200"/>
          </a:p>
        </p:txBody>
      </p:sp>
      <p:sp>
        <p:nvSpPr>
          <p:cNvPr id="35675225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Menembakkan medan magnet </a:t>
            </a:r>
            <a:r>
              <a:rPr b="0"/>
              <a:t>BUUUESAR</a:t>
            </a:r>
            <a:endParaRPr b="0"/>
          </a:p>
          <a:p>
            <a:pPr>
              <a:defRPr/>
            </a:pPr>
            <a:r>
              <a:rPr/>
              <a:t>Mengukur scan propagasi radial medan magnet, konsentrasi air (atau agen kontras)</a:t>
            </a:r>
            <a:endParaRPr/>
          </a:p>
          <a:p>
            <a:pPr>
              <a:defRPr/>
            </a:pPr>
            <a:r>
              <a:rPr/>
              <a:t>oven microwave </a:t>
            </a:r>
            <a:endParaRPr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777100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PET/CT scan</a:t>
            </a:r>
            <a:endParaRPr sz="3200"/>
          </a:p>
        </p:txBody>
      </p:sp>
      <p:sp>
        <p:nvSpPr>
          <p:cNvPr id="24844430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Menangkap citra dari gelombang gamma (PET) atau Rontgen/X-ray (CT)</a:t>
            </a:r>
            <a:endParaRPr/>
          </a:p>
          <a:p>
            <a:pPr>
              <a:defRPr/>
            </a:pPr>
            <a:r>
              <a:rPr/>
              <a:t>Bisa diperkuat dengan kontras agen radioaktif (memancarkan positron)</a:t>
            </a:r>
            <a:endParaRPr/>
          </a:p>
        </p:txBody>
      </p:sp>
      <p:pic>
        <p:nvPicPr>
          <p:cNvPr id="74056396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52499" y="3916362"/>
            <a:ext cx="4946762" cy="27701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699478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EEG</a:t>
            </a:r>
            <a:endParaRPr sz="3200"/>
          </a:p>
        </p:txBody>
      </p:sp>
      <p:pic>
        <p:nvPicPr>
          <p:cNvPr id="8433100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9649" y="1169987"/>
            <a:ext cx="3143250" cy="4762499"/>
          </a:xfrm>
          <a:prstGeom prst="rect">
            <a:avLst/>
          </a:prstGeom>
        </p:spPr>
      </p:pic>
      <p:sp>
        <p:nvSpPr>
          <p:cNvPr id="2115780756" name=""/>
          <p:cNvSpPr txBox="1"/>
          <p:nvPr/>
        </p:nvSpPr>
        <p:spPr bwMode="auto">
          <a:xfrm rot="0" flipH="0" flipV="0">
            <a:off x="103983" y="6236969"/>
            <a:ext cx="5430833" cy="365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/>
              <a:t>https://onlinelibrary.wiley.com/doi/10.1111/jsr.12786</a:t>
            </a:r>
            <a:endParaRPr/>
          </a:p>
        </p:txBody>
      </p:sp>
      <p:pic>
        <p:nvPicPr>
          <p:cNvPr id="137233977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4419599" y="1169987"/>
            <a:ext cx="4552949" cy="4762499"/>
          </a:xfrm>
          <a:prstGeom prst="rect">
            <a:avLst/>
          </a:prstGeom>
        </p:spPr>
      </p:pic>
      <p:sp>
        <p:nvSpPr>
          <p:cNvPr id="288237966" name="Title 1"/>
          <p:cNvSpPr>
            <a:spLocks noGrp="1"/>
          </p:cNvSpPr>
          <p:nvPr/>
        </p:nvSpPr>
        <p:spPr bwMode="auto">
          <a:xfrm>
            <a:off x="9353548" y="4941887"/>
            <a:ext cx="10972800" cy="1143000"/>
          </a:xfrm>
        </p:spPr>
        <p:txBody>
          <a:bodyPr vert="horz" lIns="91440" tIns="45720" rIns="91440" bIns="45720" rtlCol="0" anchor="ctr">
            <a:normAutofit/>
          </a:bodyPr>
          <a:lstStyle>
            <a:lvl1pPr algn="r" defTabSz="914400" rtl="0">
              <a:spcBef>
                <a:spcPts val="0"/>
              </a:spcBef>
              <a:buNone/>
              <a:defRPr sz="440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sz="3200"/>
              <a:t>Intracranial?</a:t>
            </a:r>
            <a:endParaRPr sz="3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94468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NIRS (near-infrared, aliran darah</a:t>
            </a:r>
            <a:r>
              <a:rPr sz="3200"/>
              <a:t>)</a:t>
            </a:r>
            <a:endParaRPr sz="3200"/>
          </a:p>
        </p:txBody>
      </p:sp>
      <p:pic>
        <p:nvPicPr>
          <p:cNvPr id="1625881089" name=""/>
          <p:cNvPicPr>
            <a:picLocks noChangeAspect="1"/>
          </p:cNvPicPr>
          <p:nvPr/>
        </p:nvPicPr>
        <p:blipFill>
          <a:blip r:embed="rId3"/>
          <a:srcRect l="0" t="5750" r="31123" b="0"/>
          <a:stretch/>
        </p:blipFill>
        <p:spPr bwMode="auto">
          <a:xfrm flipH="0" flipV="0">
            <a:off x="7238999" y="1127125"/>
            <a:ext cx="4643317" cy="2828925"/>
          </a:xfrm>
          <a:prstGeom prst="rect">
            <a:avLst/>
          </a:prstGeom>
        </p:spPr>
      </p:pic>
      <p:pic>
        <p:nvPicPr>
          <p:cNvPr id="156050227" name=""/>
          <p:cNvPicPr>
            <a:picLocks noChangeAspect="1"/>
          </p:cNvPicPr>
          <p:nvPr/>
        </p:nvPicPr>
        <p:blipFill>
          <a:blip r:embed="rId4"/>
          <a:srcRect l="27274" t="0" r="2136" b="5215"/>
          <a:stretch/>
        </p:blipFill>
        <p:spPr bwMode="auto">
          <a:xfrm flipH="0" flipV="0">
            <a:off x="1904726" y="4357370"/>
            <a:ext cx="3716973" cy="2157909"/>
          </a:xfrm>
          <a:prstGeom prst="rect">
            <a:avLst/>
          </a:prstGeom>
        </p:spPr>
      </p:pic>
      <p:sp>
        <p:nvSpPr>
          <p:cNvPr id="15124713" name=""/>
          <p:cNvSpPr/>
          <p:nvPr/>
        </p:nvSpPr>
        <p:spPr bwMode="auto">
          <a:xfrm>
            <a:off x="9086850" y="4096840"/>
            <a:ext cx="2873525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u="sng">
                <a:hlinkClick r:id="rId5" tooltip=""/>
              </a:rPr>
              <a:t>10.1016/j.ics.2004.05.052</a:t>
            </a:r>
            <a:endParaRPr/>
          </a:p>
        </p:txBody>
      </p:sp>
      <p:sp>
        <p:nvSpPr>
          <p:cNvPr id="1963528375" name=""/>
          <p:cNvSpPr txBox="1"/>
          <p:nvPr/>
        </p:nvSpPr>
        <p:spPr bwMode="auto">
          <a:xfrm rot="0" flipH="0" flipV="0">
            <a:off x="5844638" y="6275070"/>
            <a:ext cx="499960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u="sng">
                <a:hlinkClick r:id="rId6" tooltip=""/>
              </a:rPr>
              <a:t>near-infrared-spectroscopy-guideline-1072</a:t>
            </a:r>
            <a:endParaRPr/>
          </a:p>
        </p:txBody>
      </p:sp>
      <p:pic>
        <p:nvPicPr>
          <p:cNvPr id="67681535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379197" y="1081405"/>
            <a:ext cx="4796782" cy="3198494"/>
          </a:xfrm>
          <a:prstGeom prst="rect">
            <a:avLst/>
          </a:prstGeom>
        </p:spPr>
      </p:pic>
      <p:sp>
        <p:nvSpPr>
          <p:cNvPr id="2133384427" name=""/>
          <p:cNvSpPr txBox="1"/>
          <p:nvPr/>
        </p:nvSpPr>
        <p:spPr bwMode="auto">
          <a:xfrm rot="0" flipH="0" flipV="0">
            <a:off x="5895832" y="5817869"/>
            <a:ext cx="4363093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u="sng">
                <a:hlinkClick r:id="rId8" tooltip=""/>
              </a:rPr>
              <a:t>https://www.artinis.com/nirs-eeg-package</a:t>
            </a:r>
            <a:r>
              <a:rPr/>
              <a:t> 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839757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lang="en-US" sz="3200" b="0" i="0" u="sng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  <a:hlinkClick r:id="rId3" tooltip=""/>
              </a:rPr>
              <a:t>https://openneuro.org/datasets/ds005207/versions/1.0.0</a:t>
            </a:r>
            <a:br>
              <a:rPr sz="3200"/>
            </a:br>
            <a:r>
              <a:rPr lang="en-US" sz="3200" b="0" i="0" u="sng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  <a:hlinkClick r:id="rId4" tooltip=""/>
              </a:rPr>
              <a:t>https://github.com/OpenNeuroDatasets/ds005207</a:t>
            </a:r>
            <a:endParaRPr sz="3200"/>
          </a:p>
        </p:txBody>
      </p:sp>
      <p:pic>
        <p:nvPicPr>
          <p:cNvPr id="372364892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1795461" y="2519087"/>
            <a:ext cx="5864145" cy="3909430"/>
          </a:xfrm>
          <a:prstGeom prst="rect">
            <a:avLst/>
          </a:prstGeom>
        </p:spPr>
      </p:pic>
      <p:sp>
        <p:nvSpPr>
          <p:cNvPr id="1800729626" name=""/>
          <p:cNvSpPr/>
          <p:nvPr/>
        </p:nvSpPr>
        <p:spPr bwMode="auto">
          <a:xfrm flipH="0" flipV="0">
            <a:off x="533743" y="1570037"/>
            <a:ext cx="10937025" cy="100619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0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Some recordings are full </a:t>
            </a:r>
            <a:r>
              <a:rPr sz="2000" b="1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polysomnography </a:t>
            </a:r>
            <a:r>
              <a:rPr sz="20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measurements, others are  </a:t>
            </a:r>
            <a:r>
              <a:rPr sz="20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</a:t>
            </a:r>
            <a:r>
              <a:rPr sz="2000" b="1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EEG</a:t>
            </a:r>
            <a:r>
              <a:rPr sz="20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rid</a:t>
            </a:r>
            <a:r>
              <a:rPr sz="20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measurements. Most subjects have both PSG and ceegrid recordings  from the same night, though a few are missing one or the other.</a:t>
            </a:r>
            <a:endParaRPr sz="2000" i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518482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Volume, Velocity</a:t>
            </a:r>
            <a:endParaRPr sz="3200"/>
          </a:p>
        </p:txBody>
      </p:sp>
      <p:pic>
        <p:nvPicPr>
          <p:cNvPr id="98185555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38149" y="1485900"/>
            <a:ext cx="11246126" cy="590549"/>
          </a:xfrm>
          <a:prstGeom prst="rect">
            <a:avLst/>
          </a:prstGeom>
        </p:spPr>
      </p:pic>
      <p:sp>
        <p:nvSpPr>
          <p:cNvPr id="47479232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7" y="2343150"/>
            <a:ext cx="11046649" cy="378301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20 responden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, 29 ‘sesi’ tidur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\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Tiap orang tiap malam tidur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986234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Variety</a:t>
            </a:r>
            <a:r>
              <a:rPr sz="3200"/>
              <a:t>, Veracity </a:t>
            </a:r>
            <a:r>
              <a:rPr lang="en-US" sz="3200" b="0" i="0" u="sng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  <a:hlinkClick r:id="rId3" tooltip=""/>
              </a:rPr>
              <a:t>https://onlinelibrary.wiley.com/doi/10.1111/jsr.12786</a:t>
            </a:r>
            <a:r>
              <a:rPr sz="3200"/>
              <a:t> </a:t>
            </a:r>
            <a:endParaRPr sz="3200"/>
          </a:p>
        </p:txBody>
      </p:sp>
      <p:sp>
        <p:nvSpPr>
          <p:cNvPr id="1684802071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256 Hz sample</a:t>
            </a:r>
            <a:endParaRPr/>
          </a:p>
          <a:p>
            <a:pPr>
              <a:defRPr/>
            </a:pPr>
            <a:r>
              <a:rPr/>
              <a:t>Band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alpha (8–16 Hz), beta (16–32 Hz), theta (4–8 Hz) and delta (1–4 Hz)</a:t>
            </a:r>
            <a:endParaRPr/>
          </a:p>
          <a:p>
            <a:pPr marL="0" indent="0">
              <a:buFont typeface="Arial"/>
              <a:buNone/>
              <a:defRPr/>
            </a:pPr>
            <a:endParaRPr/>
          </a:p>
          <a:p>
            <a:pPr marL="0" indent="0">
              <a:buFont typeface="Arial"/>
              <a:buNone/>
              <a:defRPr/>
            </a:pPr>
            <a:endParaRPr/>
          </a:p>
        </p:txBody>
      </p:sp>
      <p:sp>
        <p:nvSpPr>
          <p:cNvPr id="1527687065" name=""/>
          <p:cNvSpPr txBox="1"/>
          <p:nvPr/>
        </p:nvSpPr>
        <p:spPr bwMode="auto">
          <a:xfrm rot="0" flipH="0" flipV="0">
            <a:off x="1131191" y="3548062"/>
            <a:ext cx="6089518" cy="26521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1400"/>
              <a:t>Feature 	Short description</a:t>
            </a:r>
            <a:endParaRPr sz="1400"/>
          </a:p>
          <a:p>
            <a:pPr algn="l">
              <a:defRPr/>
            </a:pPr>
            <a:r>
              <a:rPr sz="1400"/>
              <a:t>F1 	Signal skewness 	EEG time domain</a:t>
            </a:r>
            <a:endParaRPr sz="1400"/>
          </a:p>
          <a:p>
            <a:pPr algn="l">
              <a:defRPr/>
            </a:pPr>
            <a:r>
              <a:rPr sz="1400"/>
              <a:t>F2 	Signal kurtosis 	</a:t>
            </a:r>
            <a:endParaRPr sz="1400"/>
          </a:p>
          <a:p>
            <a:pPr algn="l">
              <a:defRPr/>
            </a:pPr>
            <a:r>
              <a:rPr sz="1400"/>
              <a:t>F3 	Zero crossing rate 	</a:t>
            </a:r>
            <a:endParaRPr sz="1400"/>
          </a:p>
          <a:p>
            <a:pPr algn="l">
              <a:defRPr/>
            </a:pPr>
            <a:r>
              <a:rPr sz="1400"/>
              <a:t>...</a:t>
            </a:r>
            <a:endParaRPr sz="1400"/>
          </a:p>
          <a:p>
            <a:pPr algn="l">
              <a:defRPr/>
            </a:pPr>
            <a:r>
              <a:rPr sz="1400"/>
              <a:t>F27 	Peak power frequency 	</a:t>
            </a:r>
            <a:endParaRPr sz="1400"/>
          </a:p>
          <a:p>
            <a:pPr algn="l">
              <a:defRPr/>
            </a:pPr>
            <a:r>
              <a:rPr sz="1400"/>
              <a:t>F28 	Spectral entropy 	</a:t>
            </a:r>
            <a:endParaRPr sz="1400"/>
          </a:p>
          <a:p>
            <a:pPr algn="l">
              <a:defRPr/>
            </a:pPr>
            <a:r>
              <a:rPr sz="1400"/>
              <a:t>F29 	Spindle probability 	Sleep event proxies</a:t>
            </a:r>
            <a:endParaRPr sz="1400"/>
          </a:p>
          <a:p>
            <a:pPr algn="l">
              <a:defRPr/>
            </a:pPr>
            <a:r>
              <a:rPr sz="1400"/>
              <a:t>F30 	Frequency stationarity 	</a:t>
            </a:r>
            <a:endParaRPr sz="1400"/>
          </a:p>
          <a:p>
            <a:pPr algn="l">
              <a:defRPr/>
            </a:pPr>
            <a:r>
              <a:rPr sz="1400"/>
              <a:t>F31 	Lowest adj. frequency similarity 	</a:t>
            </a:r>
            <a:endParaRPr sz="1400"/>
          </a:p>
          <a:p>
            <a:pPr algn="l">
              <a:defRPr/>
            </a:pPr>
            <a:r>
              <a:rPr sz="1400"/>
              <a:t>F32 	Largest CWT value 	</a:t>
            </a:r>
            <a:endParaRPr sz="1400"/>
          </a:p>
          <a:p>
            <a:pPr algn="l">
              <a:defRPr/>
            </a:pPr>
            <a:r>
              <a:rPr sz="1400"/>
              <a:t>F33 	Longest sleep spindle</a:t>
            </a:r>
            <a:endParaRPr sz="1400"/>
          </a:p>
        </p:txBody>
      </p:sp>
      <p:pic>
        <p:nvPicPr>
          <p:cNvPr id="864856767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011160" y="2948619"/>
            <a:ext cx="4656949" cy="36236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272186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Value</a:t>
            </a:r>
            <a:r>
              <a:rPr sz="3200"/>
              <a:t>: tidur nyenyak berapa lama?</a:t>
            </a:r>
            <a:endParaRPr sz="3200"/>
          </a:p>
        </p:txBody>
      </p:sp>
      <p:pic>
        <p:nvPicPr>
          <p:cNvPr id="77714019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133408" y="1200149"/>
            <a:ext cx="6489069" cy="54292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433745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More</a:t>
            </a:r>
            <a:r>
              <a:rPr sz="3200"/>
              <a:t> EEGs (biasanya dikaitkan dengan suatu aktivitas)</a:t>
            </a:r>
            <a:endParaRPr sz="3200"/>
          </a:p>
        </p:txBody>
      </p:sp>
      <p:sp>
        <p:nvSpPr>
          <p:cNvPr id="1284847888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61947" y="1537494"/>
            <a:ext cx="11046649" cy="378301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3200" b="0" i="0" u="sng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  <a:hlinkClick r:id="rId3" tooltip=""/>
              </a:rPr>
              <a:t>https://nemar.org/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sng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  <a:hlinkClick r:id="rId4" tooltip=""/>
              </a:rPr>
              <a:t>https://sccn.ucsd.edu/~arno/fam2data/publicly_available_EEG_data.html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sng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  <a:hlinkClick r:id="rId5" tooltip=""/>
              </a:rPr>
              <a:t>https://www.kaggle.com/datasets/quands/eeg-dataset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sng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  <a:hlinkClick r:id="rId6" tooltip=""/>
              </a:rPr>
              <a:t>https://archive.ics.uci.edu/dataset/264/eeg+eye+state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urtl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lassic 2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ONLYOFFICE/9.0.4.50</Application>
  <PresentationFormat>On-screen Show (4:3)</PresentationFormat>
  <Paragraphs>0</Paragraphs>
  <Slides>12</Slides>
  <Notes>12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12</cp:revision>
  <dcterms:modified xsi:type="dcterms:W3CDTF">2026-04-29T05:06:22Z</dcterms:modified>
</cp:coreProperties>
</file>